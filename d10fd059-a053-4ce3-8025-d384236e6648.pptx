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21" autoAdjust="0"/>
  </p:normalViewPr>
  <p:slideViewPr>
    <p:cSldViewPr>
      <p:cViewPr varScale="1">
        <p:scale>
          <a:sx n="56" d="100"/>
          <a:sy n="56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1371600" y="3195637"/>
            <a:ext cx="15544800" cy="22050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2743200" y="5829299"/>
            <a:ext cx="12801600" cy="262889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65230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42530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51837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242759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17605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81651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53920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61970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42139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54413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915839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136965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9/30/2026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7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3671922" y="1501492"/>
            <a:ext cx="11131450" cy="56045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77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Topic : LegalEase:Al Powered Legal Documents generated </a:t>
            </a:r>
            <a:endParaRPr lang="zh-CN" altLang="en-US" sz="3677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6207635" y="3728417"/>
            <a:ext cx="5467572" cy="41903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Members: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just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   1.M.Mugilan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just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   2.P.muthukumaran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just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   3.B.Nabisha</a:t>
            </a:r>
            <a:endParaRPr lang="en-US" altLang="zh-CN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</a:endParaRPr>
          </a:p>
          <a:p>
            <a:pPr marL="0" indent="0" algn="ctr">
              <a:lnSpc>
                <a:spcPts val="65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5499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4.M.Narkis banu</a:t>
            </a:r>
            <a:endParaRPr lang="zh-CN" altLang="en-US" sz="5499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5398557" y="2766353"/>
            <a:ext cx="6697399" cy="6275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Team Leade</a:t>
            </a:r>
            <a:r>
              <a:rPr lang="en-US" altLang="zh-CN" sz="4118" b="0" i="0" u="none" strike="noStrike" kern="1200" cap="none" spc="0" baseline="0">
                <a:solidFill>
                  <a:srgbClr val="000000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</a:rPr>
              <a:t>r:M.J.Mythrashree</a:t>
            </a:r>
            <a:endParaRPr lang="zh-CN" altLang="en-US" sz="4118" b="0" i="0" u="none" strike="noStrike" kern="1200" cap="none" spc="0" baseline="0">
              <a:solidFill>
                <a:srgbClr val="000000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64910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"/>
          <p:cNvSpPr>
            <a:spLocks/>
          </p:cNvSpPr>
          <p:nvPr/>
        </p:nvSpPr>
        <p:spPr>
          <a:xfrm rot="0">
            <a:off x="1189577" y="2030492"/>
            <a:ext cx="9837630" cy="189877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79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605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</a:t>
            </a:r>
            <a:endParaRPr lang="en-US" altLang="zh-CN" sz="6605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l">
              <a:lnSpc>
                <a:spcPts val="41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452" b="0" i="0" u="none" strike="noStrike" kern="1200" cap="none" spc="0" baseline="0">
                <a:solidFill>
                  <a:srgbClr val="366FC4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AI-Powered Legal Document Generator</a:t>
            </a:r>
            <a:endParaRPr lang="en-US" altLang="zh-CN" sz="3452" b="0" i="0" u="none" strike="noStrike" kern="1200" cap="none" spc="0" baseline="0">
              <a:solidFill>
                <a:srgbClr val="366FC4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  <a:p>
            <a:pPr marL="0" indent="0" algn="l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Smart • Simple • Faster</a:t>
            </a:r>
            <a:endParaRPr lang="zh-CN" altLang="en-US" sz="24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" name="组合"/>
          <p:cNvGrpSpPr>
            <a:grpSpLocks/>
          </p:cNvGrpSpPr>
          <p:nvPr/>
        </p:nvGrpSpPr>
        <p:grpSpPr>
          <a:xfrm>
            <a:off x="12346904" y="2051856"/>
            <a:ext cx="3445955" cy="1386935"/>
            <a:chOff x="12346904" y="2051856"/>
            <a:chExt cx="3445955" cy="1386935"/>
          </a:xfrm>
        </p:grpSpPr>
        <p:sp>
          <p:nvSpPr>
            <p:cNvPr id="14" name="曲线"/>
            <p:cNvSpPr>
              <a:spLocks/>
            </p:cNvSpPr>
            <p:nvPr/>
          </p:nvSpPr>
          <p:spPr>
            <a:xfrm rot="0">
              <a:off x="12346904" y="2051856"/>
              <a:ext cx="344595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6" name="矩形"/>
          <p:cNvSpPr>
            <a:spLocks/>
          </p:cNvSpPr>
          <p:nvPr/>
        </p:nvSpPr>
        <p:spPr>
          <a:xfrm rot="0">
            <a:off x="12555303" y="2176443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" name="组合"/>
          <p:cNvGrpSpPr>
            <a:grpSpLocks/>
          </p:cNvGrpSpPr>
          <p:nvPr/>
        </p:nvGrpSpPr>
        <p:grpSpPr>
          <a:xfrm>
            <a:off x="12346904" y="4248131"/>
            <a:ext cx="3445955" cy="1386934"/>
            <a:chOff x="12346904" y="4248131"/>
            <a:chExt cx="3445955" cy="1386934"/>
          </a:xfrm>
        </p:grpSpPr>
        <p:sp>
          <p:nvSpPr>
            <p:cNvPr id="17" name="曲线"/>
            <p:cNvSpPr>
              <a:spLocks/>
            </p:cNvSpPr>
            <p:nvPr/>
          </p:nvSpPr>
          <p:spPr>
            <a:xfrm rot="0">
              <a:off x="12346904" y="4248131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" name="矩形"/>
          <p:cNvSpPr>
            <a:spLocks/>
          </p:cNvSpPr>
          <p:nvPr/>
        </p:nvSpPr>
        <p:spPr>
          <a:xfrm rot="0">
            <a:off x="12555303" y="4372718"/>
            <a:ext cx="302916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ENGINE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" name="组合"/>
          <p:cNvGrpSpPr>
            <a:grpSpLocks/>
          </p:cNvGrpSpPr>
          <p:nvPr/>
        </p:nvGrpSpPr>
        <p:grpSpPr>
          <a:xfrm>
            <a:off x="12346904" y="6444415"/>
            <a:ext cx="3445955" cy="1386934"/>
            <a:chOff x="12346904" y="6444415"/>
            <a:chExt cx="3445955" cy="1386934"/>
          </a:xfrm>
        </p:grpSpPr>
        <p:sp>
          <p:nvSpPr>
            <p:cNvPr id="20" name="曲线"/>
            <p:cNvSpPr>
              <a:spLocks/>
            </p:cNvSpPr>
            <p:nvPr/>
          </p:nvSpPr>
          <p:spPr>
            <a:xfrm rot="0">
              <a:off x="12346904" y="6444415"/>
              <a:ext cx="3445955" cy="1386934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648" y="0"/>
                    <a:pt x="1449" y="0"/>
                  </a:cubicBezTo>
                  <a:lnTo>
                    <a:pt x="20150" y="0"/>
                  </a:lnTo>
                  <a:cubicBezTo>
                    <a:pt x="20951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951" y="21600"/>
                    <a:pt x="20150" y="21600"/>
                  </a:cubicBezTo>
                  <a:lnTo>
                    <a:pt x="1449" y="21600"/>
                  </a:lnTo>
                  <a:cubicBezTo>
                    <a:pt x="648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" name="矩形"/>
          <p:cNvSpPr>
            <a:spLocks/>
          </p:cNvSpPr>
          <p:nvPr/>
        </p:nvSpPr>
        <p:spPr>
          <a:xfrm rot="0">
            <a:off x="12555303" y="6549942"/>
            <a:ext cx="3029169" cy="68630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" name="直线"/>
          <p:cNvSpPr>
            <a:spLocks/>
          </p:cNvSpPr>
          <p:nvPr/>
        </p:nvSpPr>
        <p:spPr>
          <a:xfrm rot="5247960">
            <a:off x="13638599" y="3833955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4" name="直线"/>
          <p:cNvSpPr>
            <a:spLocks/>
          </p:cNvSpPr>
          <p:nvPr/>
        </p:nvSpPr>
        <p:spPr>
          <a:xfrm rot="5247960">
            <a:off x="13638599" y="6030230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47811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1. Introduction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Why LegalEase?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" name="组合"/>
          <p:cNvGrpSpPr>
            <a:grpSpLocks/>
          </p:cNvGrpSpPr>
          <p:nvPr/>
        </p:nvGrpSpPr>
        <p:grpSpPr>
          <a:xfrm>
            <a:off x="953719" y="2120494"/>
            <a:ext cx="7701344" cy="1867471"/>
            <a:chOff x="953719" y="2120494"/>
            <a:chExt cx="7701344" cy="1867471"/>
          </a:xfrm>
        </p:grpSpPr>
        <p:sp>
          <p:nvSpPr>
            <p:cNvPr id="28" name="曲线"/>
            <p:cNvSpPr>
              <a:spLocks/>
            </p:cNvSpPr>
            <p:nvPr/>
          </p:nvSpPr>
          <p:spPr>
            <a:xfrm rot="0">
              <a:off x="953719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" name="组合"/>
          <p:cNvGrpSpPr>
            <a:grpSpLocks/>
          </p:cNvGrpSpPr>
          <p:nvPr/>
        </p:nvGrpSpPr>
        <p:grpSpPr>
          <a:xfrm>
            <a:off x="960871" y="2127647"/>
            <a:ext cx="109823" cy="1853089"/>
            <a:chOff x="960871" y="2127647"/>
            <a:chExt cx="109823" cy="1853089"/>
          </a:xfrm>
        </p:grpSpPr>
        <p:sp>
          <p:nvSpPr>
            <p:cNvPr id="30" name="曲线"/>
            <p:cNvSpPr>
              <a:spLocks/>
            </p:cNvSpPr>
            <p:nvPr/>
          </p:nvSpPr>
          <p:spPr>
            <a:xfrm rot="0">
              <a:off x="960871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2" name="矩形"/>
          <p:cNvSpPr>
            <a:spLocks/>
          </p:cNvSpPr>
          <p:nvPr/>
        </p:nvSpPr>
        <p:spPr>
          <a:xfrm rot="0">
            <a:off x="1395479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documents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3" name="矩形"/>
          <p:cNvSpPr>
            <a:spLocks/>
          </p:cNvSpPr>
          <p:nvPr/>
        </p:nvSpPr>
        <p:spPr>
          <a:xfrm rot="0">
            <a:off x="1395479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Contracts, agreements, notices and other documents are important in everyday and business activities.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5" name="组合"/>
          <p:cNvGrpSpPr>
            <a:grpSpLocks/>
          </p:cNvGrpSpPr>
          <p:nvPr/>
        </p:nvGrpSpPr>
        <p:grpSpPr>
          <a:xfrm>
            <a:off x="953719" y="4316768"/>
            <a:ext cx="7701344" cy="1867471"/>
            <a:chOff x="953719" y="4316768"/>
            <a:chExt cx="7701344" cy="1867471"/>
          </a:xfrm>
        </p:grpSpPr>
        <p:sp>
          <p:nvSpPr>
            <p:cNvPr id="34" name="曲线"/>
            <p:cNvSpPr>
              <a:spLocks/>
            </p:cNvSpPr>
            <p:nvPr/>
          </p:nvSpPr>
          <p:spPr>
            <a:xfrm rot="0">
              <a:off x="953719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7" name="组合"/>
          <p:cNvGrpSpPr>
            <a:grpSpLocks/>
          </p:cNvGrpSpPr>
          <p:nvPr/>
        </p:nvGrpSpPr>
        <p:grpSpPr>
          <a:xfrm>
            <a:off x="960871" y="4323921"/>
            <a:ext cx="109823" cy="1853089"/>
            <a:chOff x="960871" y="4323921"/>
            <a:chExt cx="109823" cy="1853089"/>
          </a:xfrm>
        </p:grpSpPr>
        <p:sp>
          <p:nvSpPr>
            <p:cNvPr id="36" name="曲线"/>
            <p:cNvSpPr>
              <a:spLocks/>
            </p:cNvSpPr>
            <p:nvPr/>
          </p:nvSpPr>
          <p:spPr>
            <a:xfrm rot="0">
              <a:off x="960871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8" name="矩形"/>
          <p:cNvSpPr>
            <a:spLocks/>
          </p:cNvSpPr>
          <p:nvPr/>
        </p:nvSpPr>
        <p:spPr>
          <a:xfrm rot="0">
            <a:off x="1395479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challenge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1395479" y="5182591"/>
            <a:ext cx="6886384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can take time, and legal language may be difficult for non-experts.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1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40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3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42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44" name="矩形"/>
          <p:cNvSpPr>
            <a:spLocks/>
          </p:cNvSpPr>
          <p:nvPr/>
        </p:nvSpPr>
        <p:spPr>
          <a:xfrm rot="0">
            <a:off x="10043312" y="2335844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The idea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45" name="矩形"/>
          <p:cNvSpPr>
            <a:spLocks/>
          </p:cNvSpPr>
          <p:nvPr/>
        </p:nvSpPr>
        <p:spPr>
          <a:xfrm rot="0">
            <a:off x="10043312" y="2986315"/>
            <a:ext cx="6886384" cy="525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uses AI to convert user-provided information into a structured document draft.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47" name="组合"/>
          <p:cNvGrpSpPr>
            <a:grpSpLocks/>
          </p:cNvGrpSpPr>
          <p:nvPr/>
        </p:nvGrpSpPr>
        <p:grpSpPr>
          <a:xfrm>
            <a:off x="9601562" y="4316768"/>
            <a:ext cx="7701344" cy="1867471"/>
            <a:chOff x="9601562" y="4316768"/>
            <a:chExt cx="7701344" cy="1867471"/>
          </a:xfrm>
        </p:grpSpPr>
        <p:sp>
          <p:nvSpPr>
            <p:cNvPr id="46" name="曲线"/>
            <p:cNvSpPr>
              <a:spLocks/>
            </p:cNvSpPr>
            <p:nvPr/>
          </p:nvSpPr>
          <p:spPr>
            <a:xfrm rot="0">
              <a:off x="9601562" y="4316768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600"/>
                    <a:pt x="20726" y="21600"/>
                  </a:cubicBezTo>
                  <a:lnTo>
                    <a:pt x="873" y="21600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49" name="组合"/>
          <p:cNvGrpSpPr>
            <a:grpSpLocks/>
          </p:cNvGrpSpPr>
          <p:nvPr/>
        </p:nvGrpSpPr>
        <p:grpSpPr>
          <a:xfrm>
            <a:off x="9608705" y="4323921"/>
            <a:ext cx="109823" cy="1853089"/>
            <a:chOff x="9608705" y="4323921"/>
            <a:chExt cx="109823" cy="1853089"/>
          </a:xfrm>
        </p:grpSpPr>
        <p:sp>
          <p:nvSpPr>
            <p:cNvPr id="48" name="曲线"/>
            <p:cNvSpPr>
              <a:spLocks/>
            </p:cNvSpPr>
            <p:nvPr/>
          </p:nvSpPr>
          <p:spPr>
            <a:xfrm rot="0">
              <a:off x="9608705" y="4323921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50" name="矩形"/>
          <p:cNvSpPr>
            <a:spLocks/>
          </p:cNvSpPr>
          <p:nvPr/>
        </p:nvSpPr>
        <p:spPr>
          <a:xfrm rot="0">
            <a:off x="10043312" y="4532119"/>
            <a:ext cx="6886384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Goal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1" name="矩形"/>
          <p:cNvSpPr>
            <a:spLocks/>
          </p:cNvSpPr>
          <p:nvPr/>
        </p:nvSpPr>
        <p:spPr>
          <a:xfrm rot="0">
            <a:off x="10043312" y="5182591"/>
            <a:ext cx="6886384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 basic document drafting faster, clearer and easier to access.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3" name="组合"/>
          <p:cNvGrpSpPr>
            <a:grpSpLocks/>
          </p:cNvGrpSpPr>
          <p:nvPr/>
        </p:nvGrpSpPr>
        <p:grpSpPr>
          <a:xfrm>
            <a:off x="5758072" y="7336650"/>
            <a:ext cx="6603207" cy="1112519"/>
            <a:chOff x="5758072" y="7336650"/>
            <a:chExt cx="6603207" cy="1112519"/>
          </a:xfrm>
        </p:grpSpPr>
        <p:sp>
          <p:nvSpPr>
            <p:cNvPr id="52" name="曲线"/>
            <p:cNvSpPr>
              <a:spLocks/>
            </p:cNvSpPr>
            <p:nvPr/>
          </p:nvSpPr>
          <p:spPr>
            <a:xfrm rot="0">
              <a:off x="5758072" y="7336650"/>
              <a:ext cx="6603207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271" y="0"/>
                    <a:pt x="606" y="0"/>
                  </a:cubicBezTo>
                  <a:lnTo>
                    <a:pt x="20993" y="0"/>
                  </a:lnTo>
                  <a:cubicBezTo>
                    <a:pt x="213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328" y="21600"/>
                    <a:pt x="20993" y="21600"/>
                  </a:cubicBezTo>
                  <a:lnTo>
                    <a:pt x="606" y="21600"/>
                  </a:lnTo>
                  <a:cubicBezTo>
                    <a:pt x="271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54" name="矩形"/>
          <p:cNvSpPr>
            <a:spLocks/>
          </p:cNvSpPr>
          <p:nvPr/>
        </p:nvSpPr>
        <p:spPr>
          <a:xfrm rot="0">
            <a:off x="5966479" y="7442178"/>
            <a:ext cx="61863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 INPUT  →  AI  →  DOCUMENT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2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1321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2. Problem Statement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5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Limitations of traditional legal document preparation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59" name="组合"/>
          <p:cNvGrpSpPr>
            <a:grpSpLocks/>
          </p:cNvGrpSpPr>
          <p:nvPr/>
        </p:nvGrpSpPr>
        <p:grpSpPr>
          <a:xfrm>
            <a:off x="953719" y="2051856"/>
            <a:ext cx="7838503" cy="2279142"/>
            <a:chOff x="953719" y="2051856"/>
            <a:chExt cx="7838503" cy="2279142"/>
          </a:xfrm>
        </p:grpSpPr>
        <p:sp>
          <p:nvSpPr>
            <p:cNvPr id="58" name="曲线"/>
            <p:cNvSpPr>
              <a:spLocks/>
            </p:cNvSpPr>
            <p:nvPr/>
          </p:nvSpPr>
          <p:spPr>
            <a:xfrm rot="0">
              <a:off x="953719" y="2051856"/>
              <a:ext cx="7838503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1" name="组合"/>
          <p:cNvGrpSpPr>
            <a:grpSpLocks/>
          </p:cNvGrpSpPr>
          <p:nvPr/>
        </p:nvGrpSpPr>
        <p:grpSpPr>
          <a:xfrm>
            <a:off x="960871" y="2059010"/>
            <a:ext cx="109823" cy="2264950"/>
            <a:chOff x="960871" y="2059010"/>
            <a:chExt cx="109823" cy="2264950"/>
          </a:xfrm>
        </p:grpSpPr>
        <p:sp>
          <p:nvSpPr>
            <p:cNvPr id="60" name="曲线"/>
            <p:cNvSpPr>
              <a:spLocks/>
            </p:cNvSpPr>
            <p:nvPr/>
          </p:nvSpPr>
          <p:spPr>
            <a:xfrm rot="0">
              <a:off x="960871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2" name="矩形"/>
          <p:cNvSpPr>
            <a:spLocks/>
          </p:cNvSpPr>
          <p:nvPr/>
        </p:nvSpPr>
        <p:spPr>
          <a:xfrm rot="0">
            <a:off x="1395479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TIME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3" name="矩形"/>
          <p:cNvSpPr>
            <a:spLocks/>
          </p:cNvSpPr>
          <p:nvPr/>
        </p:nvSpPr>
        <p:spPr>
          <a:xfrm rot="0">
            <a:off x="1395479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Manual drafting is repetitive.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65" name="组合"/>
          <p:cNvGrpSpPr>
            <a:grpSpLocks/>
          </p:cNvGrpSpPr>
          <p:nvPr/>
        </p:nvGrpSpPr>
        <p:grpSpPr>
          <a:xfrm>
            <a:off x="9532926" y="2051856"/>
            <a:ext cx="7838502" cy="2279142"/>
            <a:chOff x="9532926" y="2051856"/>
            <a:chExt cx="7838502" cy="2279142"/>
          </a:xfrm>
        </p:grpSpPr>
        <p:sp>
          <p:nvSpPr>
            <p:cNvPr id="64" name="曲线"/>
            <p:cNvSpPr>
              <a:spLocks/>
            </p:cNvSpPr>
            <p:nvPr/>
          </p:nvSpPr>
          <p:spPr>
            <a:xfrm rot="0">
              <a:off x="9532926" y="2051856"/>
              <a:ext cx="7838502" cy="227914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67" name="组合"/>
          <p:cNvGrpSpPr>
            <a:grpSpLocks/>
          </p:cNvGrpSpPr>
          <p:nvPr/>
        </p:nvGrpSpPr>
        <p:grpSpPr>
          <a:xfrm>
            <a:off x="9540069" y="2059010"/>
            <a:ext cx="109823" cy="2264950"/>
            <a:chOff x="9540069" y="2059010"/>
            <a:chExt cx="109823" cy="2264950"/>
          </a:xfrm>
        </p:grpSpPr>
        <p:sp>
          <p:nvSpPr>
            <p:cNvPr id="66" name="曲线"/>
            <p:cNvSpPr>
              <a:spLocks/>
            </p:cNvSpPr>
            <p:nvPr/>
          </p:nvSpPr>
          <p:spPr>
            <a:xfrm rot="0">
              <a:off x="9540069" y="2059010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68" name="矩形"/>
          <p:cNvSpPr>
            <a:spLocks/>
          </p:cNvSpPr>
          <p:nvPr/>
        </p:nvSpPr>
        <p:spPr>
          <a:xfrm rot="0">
            <a:off x="9974686" y="2267207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COST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69" name="矩形"/>
          <p:cNvSpPr>
            <a:spLocks/>
          </p:cNvSpPr>
          <p:nvPr/>
        </p:nvSpPr>
        <p:spPr>
          <a:xfrm rot="0">
            <a:off x="9974686" y="2917688"/>
            <a:ext cx="7023649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Professional drafting may be costly.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1" name="组合"/>
          <p:cNvGrpSpPr>
            <a:grpSpLocks/>
          </p:cNvGrpSpPr>
          <p:nvPr/>
        </p:nvGrpSpPr>
        <p:grpSpPr>
          <a:xfrm>
            <a:off x="953719" y="5003102"/>
            <a:ext cx="7838503" cy="2279141"/>
            <a:chOff x="953719" y="5003102"/>
            <a:chExt cx="7838503" cy="2279141"/>
          </a:xfrm>
        </p:grpSpPr>
        <p:sp>
          <p:nvSpPr>
            <p:cNvPr id="70" name="曲线"/>
            <p:cNvSpPr>
              <a:spLocks/>
            </p:cNvSpPr>
            <p:nvPr/>
          </p:nvSpPr>
          <p:spPr>
            <a:xfrm rot="0">
              <a:off x="953719" y="5003102"/>
              <a:ext cx="7838503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3" name="组合"/>
          <p:cNvGrpSpPr>
            <a:grpSpLocks/>
          </p:cNvGrpSpPr>
          <p:nvPr/>
        </p:nvGrpSpPr>
        <p:grpSpPr>
          <a:xfrm>
            <a:off x="960871" y="5010255"/>
            <a:ext cx="109823" cy="2264950"/>
            <a:chOff x="960871" y="5010255"/>
            <a:chExt cx="109823" cy="2264950"/>
          </a:xfrm>
        </p:grpSpPr>
        <p:sp>
          <p:nvSpPr>
            <p:cNvPr id="72" name="曲线"/>
            <p:cNvSpPr>
              <a:spLocks/>
            </p:cNvSpPr>
            <p:nvPr/>
          </p:nvSpPr>
          <p:spPr>
            <a:xfrm rot="0">
              <a:off x="960871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74" name="矩形"/>
          <p:cNvSpPr>
            <a:spLocks/>
          </p:cNvSpPr>
          <p:nvPr/>
        </p:nvSpPr>
        <p:spPr>
          <a:xfrm rot="0">
            <a:off x="1395479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COMPLEXITY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75" name="矩形"/>
          <p:cNvSpPr>
            <a:spLocks/>
          </p:cNvSpPr>
          <p:nvPr/>
        </p:nvSpPr>
        <p:spPr>
          <a:xfrm rot="0">
            <a:off x="1395479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 terminology can be difficult.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77" name="组合"/>
          <p:cNvGrpSpPr>
            <a:grpSpLocks/>
          </p:cNvGrpSpPr>
          <p:nvPr/>
        </p:nvGrpSpPr>
        <p:grpSpPr>
          <a:xfrm>
            <a:off x="9532926" y="5003102"/>
            <a:ext cx="7838502" cy="2279141"/>
            <a:chOff x="9532926" y="5003102"/>
            <a:chExt cx="7838502" cy="2279141"/>
          </a:xfrm>
        </p:grpSpPr>
        <p:sp>
          <p:nvSpPr>
            <p:cNvPr id="76" name="曲线"/>
            <p:cNvSpPr>
              <a:spLocks/>
            </p:cNvSpPr>
            <p:nvPr/>
          </p:nvSpPr>
          <p:spPr>
            <a:xfrm rot="0">
              <a:off x="9532926" y="5003102"/>
              <a:ext cx="7838502" cy="227914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68" y="0"/>
                    <a:pt x="1046" y="0"/>
                  </a:cubicBezTo>
                  <a:lnTo>
                    <a:pt x="20553" y="0"/>
                  </a:lnTo>
                  <a:cubicBezTo>
                    <a:pt x="21131" y="0"/>
                    <a:pt x="21600" y="1612"/>
                    <a:pt x="21600" y="3599"/>
                  </a:cubicBezTo>
                  <a:lnTo>
                    <a:pt x="21600" y="17999"/>
                  </a:lnTo>
                  <a:cubicBezTo>
                    <a:pt x="21600" y="19987"/>
                    <a:pt x="21131" y="21599"/>
                    <a:pt x="20553" y="21599"/>
                  </a:cubicBezTo>
                  <a:lnTo>
                    <a:pt x="1046" y="21599"/>
                  </a:lnTo>
                  <a:cubicBezTo>
                    <a:pt x="468" y="21600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79" name="组合"/>
          <p:cNvGrpSpPr>
            <a:grpSpLocks/>
          </p:cNvGrpSpPr>
          <p:nvPr/>
        </p:nvGrpSpPr>
        <p:grpSpPr>
          <a:xfrm>
            <a:off x="9540069" y="5010255"/>
            <a:ext cx="109823" cy="2264950"/>
            <a:chOff x="9540069" y="5010255"/>
            <a:chExt cx="109823" cy="2264950"/>
          </a:xfrm>
        </p:grpSpPr>
        <p:sp>
          <p:nvSpPr>
            <p:cNvPr id="78" name="曲线"/>
            <p:cNvSpPr>
              <a:spLocks/>
            </p:cNvSpPr>
            <p:nvPr/>
          </p:nvSpPr>
          <p:spPr>
            <a:xfrm rot="0">
              <a:off x="9540069" y="5010255"/>
              <a:ext cx="109823" cy="226495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80" name="矩形"/>
          <p:cNvSpPr>
            <a:spLocks/>
          </p:cNvSpPr>
          <p:nvPr/>
        </p:nvSpPr>
        <p:spPr>
          <a:xfrm rot="0">
            <a:off x="9974686" y="5218452"/>
            <a:ext cx="702364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ERRORS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1" name="矩形"/>
          <p:cNvSpPr>
            <a:spLocks/>
          </p:cNvSpPr>
          <p:nvPr/>
        </p:nvSpPr>
        <p:spPr>
          <a:xfrm rot="0">
            <a:off x="9974686" y="5868933"/>
            <a:ext cx="7023649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Missing details or formatting mistakes may occur.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3" name="组合"/>
          <p:cNvGrpSpPr>
            <a:grpSpLocks/>
          </p:cNvGrpSpPr>
          <p:nvPr/>
        </p:nvGrpSpPr>
        <p:grpSpPr>
          <a:xfrm>
            <a:off x="4659935" y="8022984"/>
            <a:ext cx="8936640" cy="975169"/>
            <a:chOff x="4659935" y="8022984"/>
            <a:chExt cx="8936640" cy="975169"/>
          </a:xfrm>
        </p:grpSpPr>
        <p:sp>
          <p:nvSpPr>
            <p:cNvPr id="82" name="曲线"/>
            <p:cNvSpPr>
              <a:spLocks/>
            </p:cNvSpPr>
            <p:nvPr/>
          </p:nvSpPr>
          <p:spPr>
            <a:xfrm rot="0">
              <a:off x="4659935" y="8022984"/>
              <a:ext cx="8936640" cy="97516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175" y="0"/>
                    <a:pt x="392" y="0"/>
                  </a:cubicBezTo>
                  <a:lnTo>
                    <a:pt x="21207" y="0"/>
                  </a:lnTo>
                  <a:cubicBezTo>
                    <a:pt x="214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424" y="21600"/>
                    <a:pt x="21207" y="21600"/>
                  </a:cubicBezTo>
                  <a:lnTo>
                    <a:pt x="392" y="21600"/>
                  </a:lnTo>
                  <a:cubicBezTo>
                    <a:pt x="175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84" name="矩形"/>
          <p:cNvSpPr>
            <a:spLocks/>
          </p:cNvSpPr>
          <p:nvPr/>
        </p:nvSpPr>
        <p:spPr>
          <a:xfrm rot="0">
            <a:off x="4868342" y="8138046"/>
            <a:ext cx="8519865" cy="320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NEED: A SIMPLE AI-ASSISTED DRAFTING SYSTEM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5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3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221329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3. Proposed Solution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87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LegalEase architecture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89" name="组合"/>
          <p:cNvGrpSpPr>
            <a:grpSpLocks/>
          </p:cNvGrpSpPr>
          <p:nvPr/>
        </p:nvGrpSpPr>
        <p:grpSpPr>
          <a:xfrm>
            <a:off x="816454" y="3012729"/>
            <a:ext cx="2896932" cy="1386935"/>
            <a:chOff x="816454" y="3012729"/>
            <a:chExt cx="2896932" cy="1386935"/>
          </a:xfrm>
        </p:grpSpPr>
        <p:sp>
          <p:nvSpPr>
            <p:cNvPr id="88" name="曲线"/>
            <p:cNvSpPr>
              <a:spLocks/>
            </p:cNvSpPr>
            <p:nvPr/>
          </p:nvSpPr>
          <p:spPr>
            <a:xfrm rot="0">
              <a:off x="816454" y="3012729"/>
              <a:ext cx="2896932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71" y="0"/>
                    <a:pt x="1723" y="0"/>
                  </a:cubicBezTo>
                  <a:lnTo>
                    <a:pt x="19876" y="0"/>
                  </a:lnTo>
                  <a:cubicBezTo>
                    <a:pt x="20828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28" y="21600"/>
                    <a:pt x="19876" y="21600"/>
                  </a:cubicBezTo>
                  <a:lnTo>
                    <a:pt x="1723" y="21600"/>
                  </a:lnTo>
                  <a:cubicBezTo>
                    <a:pt x="771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0" name="矩形"/>
          <p:cNvSpPr>
            <a:spLocks/>
          </p:cNvSpPr>
          <p:nvPr/>
        </p:nvSpPr>
        <p:spPr>
          <a:xfrm rot="0">
            <a:off x="1024861" y="3137316"/>
            <a:ext cx="2480099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USER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2" name="组合"/>
          <p:cNvGrpSpPr>
            <a:grpSpLocks/>
          </p:cNvGrpSpPr>
          <p:nvPr/>
        </p:nvGrpSpPr>
        <p:grpSpPr>
          <a:xfrm>
            <a:off x="4454033" y="3012729"/>
            <a:ext cx="3171443" cy="1386935"/>
            <a:chOff x="4454033" y="3012729"/>
            <a:chExt cx="3171443" cy="1386935"/>
          </a:xfrm>
        </p:grpSpPr>
        <p:sp>
          <p:nvSpPr>
            <p:cNvPr id="91" name="曲线"/>
            <p:cNvSpPr>
              <a:spLocks/>
            </p:cNvSpPr>
            <p:nvPr/>
          </p:nvSpPr>
          <p:spPr>
            <a:xfrm rot="0">
              <a:off x="4454033" y="3012729"/>
              <a:ext cx="317144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3" name="矩形"/>
          <p:cNvSpPr>
            <a:spLocks/>
          </p:cNvSpPr>
          <p:nvPr/>
        </p:nvSpPr>
        <p:spPr>
          <a:xfrm rot="0">
            <a:off x="4662440" y="3118266"/>
            <a:ext cx="2754639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 FORM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5" name="组合"/>
          <p:cNvGrpSpPr>
            <a:grpSpLocks/>
          </p:cNvGrpSpPr>
          <p:nvPr/>
        </p:nvGrpSpPr>
        <p:grpSpPr>
          <a:xfrm>
            <a:off x="8434788" y="3012729"/>
            <a:ext cx="3171444" cy="1386935"/>
            <a:chOff x="8434788" y="3012729"/>
            <a:chExt cx="3171444" cy="1386935"/>
          </a:xfrm>
        </p:grpSpPr>
        <p:sp>
          <p:nvSpPr>
            <p:cNvPr id="94" name="曲线"/>
            <p:cNvSpPr>
              <a:spLocks/>
            </p:cNvSpPr>
            <p:nvPr/>
          </p:nvSpPr>
          <p:spPr>
            <a:xfrm rot="0">
              <a:off x="8434788" y="3012729"/>
              <a:ext cx="317144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05" y="0"/>
                    <a:pt x="1574" y="0"/>
                  </a:cubicBezTo>
                  <a:lnTo>
                    <a:pt x="20025" y="0"/>
                  </a:lnTo>
                  <a:cubicBezTo>
                    <a:pt x="20894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94" y="21600"/>
                    <a:pt x="20025" y="21600"/>
                  </a:cubicBezTo>
                  <a:lnTo>
                    <a:pt x="1574" y="21600"/>
                  </a:lnTo>
                  <a:cubicBezTo>
                    <a:pt x="705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6" name="矩形"/>
          <p:cNvSpPr>
            <a:spLocks/>
          </p:cNvSpPr>
          <p:nvPr/>
        </p:nvSpPr>
        <p:spPr>
          <a:xfrm rot="0">
            <a:off x="8643185" y="3137316"/>
            <a:ext cx="2754640" cy="3660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8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/ NLP</a:t>
            </a:r>
            <a:endParaRPr lang="zh-CN" altLang="en-US" sz="24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98" name="组合"/>
          <p:cNvGrpSpPr>
            <a:grpSpLocks/>
          </p:cNvGrpSpPr>
          <p:nvPr/>
        </p:nvGrpSpPr>
        <p:grpSpPr>
          <a:xfrm>
            <a:off x="12415534" y="3012729"/>
            <a:ext cx="3857815" cy="1386935"/>
            <a:chOff x="12415534" y="3012729"/>
            <a:chExt cx="3857815" cy="1386935"/>
          </a:xfrm>
        </p:grpSpPr>
        <p:sp>
          <p:nvSpPr>
            <p:cNvPr id="97" name="曲线"/>
            <p:cNvSpPr>
              <a:spLocks/>
            </p:cNvSpPr>
            <p:nvPr/>
          </p:nvSpPr>
          <p:spPr>
            <a:xfrm rot="0">
              <a:off x="12415534" y="3012729"/>
              <a:ext cx="3857815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579" y="0"/>
                    <a:pt x="1294" y="0"/>
                  </a:cubicBezTo>
                  <a:lnTo>
                    <a:pt x="20305" y="0"/>
                  </a:lnTo>
                  <a:cubicBezTo>
                    <a:pt x="21020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020" y="21600"/>
                    <a:pt x="20305" y="21600"/>
                  </a:cubicBezTo>
                  <a:lnTo>
                    <a:pt x="1294" y="21600"/>
                  </a:lnTo>
                  <a:cubicBezTo>
                    <a:pt x="579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99" name="矩形"/>
          <p:cNvSpPr>
            <a:spLocks/>
          </p:cNvSpPr>
          <p:nvPr/>
        </p:nvSpPr>
        <p:spPr>
          <a:xfrm rot="0">
            <a:off x="12623940" y="3118266"/>
            <a:ext cx="3440972" cy="686307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</a:t>
            </a:r>
            <a:endParaRPr lang="en-US" altLang="zh-CN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GENERATOR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0" name="直线"/>
          <p:cNvSpPr>
            <a:spLocks/>
          </p:cNvSpPr>
          <p:nvPr/>
        </p:nvSpPr>
        <p:spPr>
          <a:xfrm rot="165120">
            <a:off x="3686688" y="3696691"/>
            <a:ext cx="794014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1" name="直线"/>
          <p:cNvSpPr>
            <a:spLocks/>
          </p:cNvSpPr>
          <p:nvPr/>
        </p:nvSpPr>
        <p:spPr>
          <a:xfrm rot="152040">
            <a:off x="7598845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102" name="直线"/>
          <p:cNvSpPr>
            <a:spLocks/>
          </p:cNvSpPr>
          <p:nvPr/>
        </p:nvSpPr>
        <p:spPr>
          <a:xfrm rot="152040">
            <a:off x="11579590" y="3696691"/>
            <a:ext cx="86257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4" name="组合"/>
          <p:cNvGrpSpPr>
            <a:grpSpLocks/>
          </p:cNvGrpSpPr>
          <p:nvPr/>
        </p:nvGrpSpPr>
        <p:grpSpPr>
          <a:xfrm>
            <a:off x="5620806" y="5963974"/>
            <a:ext cx="7152227" cy="1386935"/>
            <a:chOff x="5620806" y="5963974"/>
            <a:chExt cx="7152227" cy="1386935"/>
          </a:xfrm>
        </p:grpSpPr>
        <p:sp>
          <p:nvSpPr>
            <p:cNvPr id="103" name="曲线"/>
            <p:cNvSpPr>
              <a:spLocks/>
            </p:cNvSpPr>
            <p:nvPr/>
          </p:nvSpPr>
          <p:spPr>
            <a:xfrm rot="0">
              <a:off x="5620806" y="5963974"/>
              <a:ext cx="715222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312" y="0"/>
                    <a:pt x="698" y="0"/>
                  </a:cubicBezTo>
                  <a:lnTo>
                    <a:pt x="20901" y="0"/>
                  </a:lnTo>
                  <a:cubicBezTo>
                    <a:pt x="2128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87" y="21600"/>
                    <a:pt x="20901" y="21600"/>
                  </a:cubicBezTo>
                  <a:lnTo>
                    <a:pt x="698" y="21600"/>
                  </a:lnTo>
                  <a:cubicBezTo>
                    <a:pt x="31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05" name="矩形"/>
          <p:cNvSpPr>
            <a:spLocks/>
          </p:cNvSpPr>
          <p:nvPr/>
        </p:nvSpPr>
        <p:spPr>
          <a:xfrm rot="0">
            <a:off x="5829205" y="6069511"/>
            <a:ext cx="6735385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→ EDIT → 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06" name="直线"/>
          <p:cNvSpPr>
            <a:spLocks/>
          </p:cNvSpPr>
          <p:nvPr/>
        </p:nvSpPr>
        <p:spPr>
          <a:xfrm rot="9274620">
            <a:off x="10779966" y="5172313"/>
            <a:ext cx="3765861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08" name="组合"/>
          <p:cNvGrpSpPr>
            <a:grpSpLocks/>
          </p:cNvGrpSpPr>
          <p:nvPr/>
        </p:nvGrpSpPr>
        <p:grpSpPr>
          <a:xfrm>
            <a:off x="1640061" y="7817081"/>
            <a:ext cx="15113698" cy="1386935"/>
            <a:chOff x="1640061" y="7817081"/>
            <a:chExt cx="15113698" cy="1386935"/>
          </a:xfrm>
        </p:grpSpPr>
        <p:sp>
          <p:nvSpPr>
            <p:cNvPr id="107" name="曲线"/>
            <p:cNvSpPr>
              <a:spLocks/>
            </p:cNvSpPr>
            <p:nvPr/>
          </p:nvSpPr>
          <p:spPr>
            <a:xfrm rot="0">
              <a:off x="1640061" y="7817081"/>
              <a:ext cx="15113698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47" y="0"/>
                    <a:pt x="330" y="0"/>
                  </a:cubicBezTo>
                  <a:lnTo>
                    <a:pt x="21269" y="0"/>
                  </a:lnTo>
                  <a:cubicBezTo>
                    <a:pt x="21452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52" y="21600"/>
                    <a:pt x="21269" y="21600"/>
                  </a:cubicBezTo>
                  <a:lnTo>
                    <a:pt x="330" y="21600"/>
                  </a:lnTo>
                  <a:cubicBezTo>
                    <a:pt x="147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10" name="组合"/>
          <p:cNvGrpSpPr>
            <a:grpSpLocks/>
          </p:cNvGrpSpPr>
          <p:nvPr/>
        </p:nvGrpSpPr>
        <p:grpSpPr>
          <a:xfrm>
            <a:off x="1647206" y="7824235"/>
            <a:ext cx="109823" cy="1372647"/>
            <a:chOff x="1647206" y="7824235"/>
            <a:chExt cx="109823" cy="1372647"/>
          </a:xfrm>
        </p:grpSpPr>
        <p:sp>
          <p:nvSpPr>
            <p:cNvPr id="109" name="曲线"/>
            <p:cNvSpPr>
              <a:spLocks/>
            </p:cNvSpPr>
            <p:nvPr/>
          </p:nvSpPr>
          <p:spPr>
            <a:xfrm rot="0">
              <a:off x="1647206" y="7824235"/>
              <a:ext cx="109823" cy="1372647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11" name="矩形"/>
          <p:cNvSpPr>
            <a:spLocks/>
          </p:cNvSpPr>
          <p:nvPr/>
        </p:nvSpPr>
        <p:spPr>
          <a:xfrm rot="0">
            <a:off x="2081813" y="8032431"/>
            <a:ext cx="14298816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Core concept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2" name="矩形"/>
          <p:cNvSpPr>
            <a:spLocks/>
          </p:cNvSpPr>
          <p:nvPr/>
        </p:nvSpPr>
        <p:spPr>
          <a:xfrm rot="0">
            <a:off x="2081813" y="8682914"/>
            <a:ext cx="14298816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The system assists with drafting; users should review generated content and seek qualified legal advice when appropriate.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13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4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84955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4. Working Process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5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From user information to a document draft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17" name="组合"/>
          <p:cNvGrpSpPr>
            <a:grpSpLocks/>
          </p:cNvGrpSpPr>
          <p:nvPr/>
        </p:nvGrpSpPr>
        <p:grpSpPr>
          <a:xfrm>
            <a:off x="610551" y="3218631"/>
            <a:ext cx="2759583" cy="1592865"/>
            <a:chOff x="610551" y="3218631"/>
            <a:chExt cx="2759583" cy="1592865"/>
          </a:xfrm>
        </p:grpSpPr>
        <p:sp>
          <p:nvSpPr>
            <p:cNvPr id="116" name="曲线"/>
            <p:cNvSpPr>
              <a:spLocks/>
            </p:cNvSpPr>
            <p:nvPr/>
          </p:nvSpPr>
          <p:spPr>
            <a:xfrm rot="0">
              <a:off x="610551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18" name="矩形"/>
          <p:cNvSpPr>
            <a:spLocks/>
          </p:cNvSpPr>
          <p:nvPr/>
        </p:nvSpPr>
        <p:spPr>
          <a:xfrm rot="0">
            <a:off x="818959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1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Enter details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19" name="直线"/>
          <p:cNvSpPr>
            <a:spLocks/>
          </p:cNvSpPr>
          <p:nvPr/>
        </p:nvSpPr>
        <p:spPr>
          <a:xfrm rot="165120">
            <a:off x="3343523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1" name="组合"/>
          <p:cNvGrpSpPr>
            <a:grpSpLocks/>
          </p:cNvGrpSpPr>
          <p:nvPr/>
        </p:nvGrpSpPr>
        <p:grpSpPr>
          <a:xfrm>
            <a:off x="4110866" y="3218631"/>
            <a:ext cx="2759583" cy="1592865"/>
            <a:chOff x="4110866" y="3218631"/>
            <a:chExt cx="2759583" cy="1592865"/>
          </a:xfrm>
        </p:grpSpPr>
        <p:sp>
          <p:nvSpPr>
            <p:cNvPr id="120" name="曲线"/>
            <p:cNvSpPr>
              <a:spLocks/>
            </p:cNvSpPr>
            <p:nvPr/>
          </p:nvSpPr>
          <p:spPr>
            <a:xfrm rot="0">
              <a:off x="4110866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2" name="矩形"/>
          <p:cNvSpPr>
            <a:spLocks/>
          </p:cNvSpPr>
          <p:nvPr/>
        </p:nvSpPr>
        <p:spPr>
          <a:xfrm rot="0">
            <a:off x="4319273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2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Analyze input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3" name="直线"/>
          <p:cNvSpPr>
            <a:spLocks/>
          </p:cNvSpPr>
          <p:nvPr/>
        </p:nvSpPr>
        <p:spPr>
          <a:xfrm rot="165120">
            <a:off x="6843836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5" name="组合"/>
          <p:cNvGrpSpPr>
            <a:grpSpLocks/>
          </p:cNvGrpSpPr>
          <p:nvPr/>
        </p:nvGrpSpPr>
        <p:grpSpPr>
          <a:xfrm>
            <a:off x="7611180" y="3218631"/>
            <a:ext cx="2759583" cy="1592865"/>
            <a:chOff x="7611180" y="3218631"/>
            <a:chExt cx="2759583" cy="1592865"/>
          </a:xfrm>
        </p:grpSpPr>
        <p:sp>
          <p:nvSpPr>
            <p:cNvPr id="124" name="曲线"/>
            <p:cNvSpPr>
              <a:spLocks/>
            </p:cNvSpPr>
            <p:nvPr/>
          </p:nvSpPr>
          <p:spPr>
            <a:xfrm rot="0">
              <a:off x="7611180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26" name="矩形"/>
          <p:cNvSpPr>
            <a:spLocks/>
          </p:cNvSpPr>
          <p:nvPr/>
        </p:nvSpPr>
        <p:spPr>
          <a:xfrm rot="0">
            <a:off x="7819587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3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Select structure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27" name="直线"/>
          <p:cNvSpPr>
            <a:spLocks/>
          </p:cNvSpPr>
          <p:nvPr/>
        </p:nvSpPr>
        <p:spPr>
          <a:xfrm rot="165120">
            <a:off x="10344149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29" name="组合"/>
          <p:cNvGrpSpPr>
            <a:grpSpLocks/>
          </p:cNvGrpSpPr>
          <p:nvPr/>
        </p:nvGrpSpPr>
        <p:grpSpPr>
          <a:xfrm>
            <a:off x="11111494" y="3218631"/>
            <a:ext cx="2759584" cy="1592865"/>
            <a:chOff x="11111494" y="3218631"/>
            <a:chExt cx="2759584" cy="1592865"/>
          </a:xfrm>
        </p:grpSpPr>
        <p:sp>
          <p:nvSpPr>
            <p:cNvPr id="128" name="曲线"/>
            <p:cNvSpPr>
              <a:spLocks/>
            </p:cNvSpPr>
            <p:nvPr/>
          </p:nvSpPr>
          <p:spPr>
            <a:xfrm rot="0">
              <a:off x="11111494" y="3218631"/>
              <a:ext cx="2759584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0" name="矩形"/>
          <p:cNvSpPr>
            <a:spLocks/>
          </p:cNvSpPr>
          <p:nvPr/>
        </p:nvSpPr>
        <p:spPr>
          <a:xfrm rot="0">
            <a:off x="11319901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4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Generate draft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31" name="直线"/>
          <p:cNvSpPr>
            <a:spLocks/>
          </p:cNvSpPr>
          <p:nvPr/>
        </p:nvSpPr>
        <p:spPr>
          <a:xfrm rot="165120">
            <a:off x="13844464" y="3998681"/>
            <a:ext cx="794013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33" name="组合"/>
          <p:cNvGrpSpPr>
            <a:grpSpLocks/>
          </p:cNvGrpSpPr>
          <p:nvPr/>
        </p:nvGrpSpPr>
        <p:grpSpPr>
          <a:xfrm>
            <a:off x="14611807" y="3218631"/>
            <a:ext cx="2759583" cy="1592865"/>
            <a:chOff x="14611807" y="3218631"/>
            <a:chExt cx="2759583" cy="1592865"/>
          </a:xfrm>
        </p:grpSpPr>
        <p:sp>
          <p:nvSpPr>
            <p:cNvPr id="132" name="曲线"/>
            <p:cNvSpPr>
              <a:spLocks/>
            </p:cNvSpPr>
            <p:nvPr/>
          </p:nvSpPr>
          <p:spPr>
            <a:xfrm rot="0">
              <a:off x="14611807" y="3218631"/>
              <a:ext cx="2759583" cy="159286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930" y="0"/>
                    <a:pt x="2077" y="0"/>
                  </a:cubicBezTo>
                  <a:lnTo>
                    <a:pt x="19522" y="0"/>
                  </a:lnTo>
                  <a:cubicBezTo>
                    <a:pt x="2066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669" y="21600"/>
                    <a:pt x="19522" y="21600"/>
                  </a:cubicBezTo>
                  <a:lnTo>
                    <a:pt x="2077" y="21600"/>
                  </a:lnTo>
                  <a:cubicBezTo>
                    <a:pt x="93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34" name="矩形"/>
          <p:cNvSpPr>
            <a:spLocks/>
          </p:cNvSpPr>
          <p:nvPr/>
        </p:nvSpPr>
        <p:spPr>
          <a:xfrm rot="0">
            <a:off x="14820214" y="3333692"/>
            <a:ext cx="2342836" cy="59461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Review &amp; export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36" name="组合"/>
          <p:cNvGrpSpPr>
            <a:grpSpLocks/>
          </p:cNvGrpSpPr>
          <p:nvPr/>
        </p:nvGrpSpPr>
        <p:grpSpPr>
          <a:xfrm>
            <a:off x="2875464" y="6238513"/>
            <a:ext cx="12642817" cy="1730120"/>
            <a:chOff x="2875464" y="6238513"/>
            <a:chExt cx="12642817" cy="1730120"/>
          </a:xfrm>
        </p:grpSpPr>
        <p:sp>
          <p:nvSpPr>
            <p:cNvPr id="135" name="曲线"/>
            <p:cNvSpPr>
              <a:spLocks/>
            </p:cNvSpPr>
            <p:nvPr/>
          </p:nvSpPr>
          <p:spPr>
            <a:xfrm rot="0">
              <a:off x="2875464" y="6238513"/>
              <a:ext cx="12642817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20" y="0"/>
                    <a:pt x="492" y="0"/>
                  </a:cubicBezTo>
                  <a:lnTo>
                    <a:pt x="21107" y="0"/>
                  </a:lnTo>
                  <a:cubicBezTo>
                    <a:pt x="21379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79" y="21600"/>
                    <a:pt x="21107" y="21600"/>
                  </a:cubicBezTo>
                  <a:lnTo>
                    <a:pt x="492" y="21600"/>
                  </a:lnTo>
                  <a:cubicBezTo>
                    <a:pt x="220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38" name="组合"/>
          <p:cNvGrpSpPr>
            <a:grpSpLocks/>
          </p:cNvGrpSpPr>
          <p:nvPr/>
        </p:nvGrpSpPr>
        <p:grpSpPr>
          <a:xfrm>
            <a:off x="2882608" y="6245657"/>
            <a:ext cx="109823" cy="1715833"/>
            <a:chOff x="2882608" y="6245657"/>
            <a:chExt cx="109823" cy="1715833"/>
          </a:xfrm>
        </p:grpSpPr>
        <p:sp>
          <p:nvSpPr>
            <p:cNvPr id="137" name="曲线"/>
            <p:cNvSpPr>
              <a:spLocks/>
            </p:cNvSpPr>
            <p:nvPr/>
          </p:nvSpPr>
          <p:spPr>
            <a:xfrm rot="0">
              <a:off x="2882608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39" name="矩形"/>
          <p:cNvSpPr>
            <a:spLocks/>
          </p:cNvSpPr>
          <p:nvPr/>
        </p:nvSpPr>
        <p:spPr>
          <a:xfrm rot="0">
            <a:off x="3317223" y="6453854"/>
            <a:ext cx="11828002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Output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0" name="矩形"/>
          <p:cNvSpPr>
            <a:spLocks/>
          </p:cNvSpPr>
          <p:nvPr/>
        </p:nvSpPr>
        <p:spPr>
          <a:xfrm rot="0">
            <a:off x="3317223" y="7104336"/>
            <a:ext cx="11828002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 structured, editable legal document draft based on the information supplied by the user.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41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5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60999"/>
      </p:ext>
    </p:extLst>
  </p:cSld>
  <p:clrMapOvr>
    <a:masterClrMapping/>
  </p:clrMapOvr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"/>
          <p:cNvSpPr>
            <a:spLocks/>
          </p:cNvSpPr>
          <p:nvPr/>
        </p:nvSpPr>
        <p:spPr>
          <a:xfrm rot="0">
            <a:off x="846410" y="344348"/>
            <a:ext cx="12033904" cy="64046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5. Key Features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3" name="矩形"/>
          <p:cNvSpPr>
            <a:spLocks/>
          </p:cNvSpPr>
          <p:nvPr/>
        </p:nvSpPr>
        <p:spPr>
          <a:xfrm rot="0">
            <a:off x="887587" y="1188120"/>
            <a:ext cx="13269306" cy="27444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Main capabilities of LegalEase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45" name="组合"/>
          <p:cNvGrpSpPr>
            <a:grpSpLocks/>
          </p:cNvGrpSpPr>
          <p:nvPr/>
        </p:nvGrpSpPr>
        <p:grpSpPr>
          <a:xfrm>
            <a:off x="885092" y="1983228"/>
            <a:ext cx="5161789" cy="2485073"/>
            <a:chOff x="885092" y="1983228"/>
            <a:chExt cx="5161789" cy="2485073"/>
          </a:xfrm>
        </p:grpSpPr>
        <p:sp>
          <p:nvSpPr>
            <p:cNvPr id="144" name="曲线"/>
            <p:cNvSpPr>
              <a:spLocks/>
            </p:cNvSpPr>
            <p:nvPr/>
          </p:nvSpPr>
          <p:spPr>
            <a:xfrm rot="0">
              <a:off x="885092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47" name="组合"/>
          <p:cNvGrpSpPr>
            <a:grpSpLocks/>
          </p:cNvGrpSpPr>
          <p:nvPr/>
        </p:nvGrpSpPr>
        <p:grpSpPr>
          <a:xfrm>
            <a:off x="892235" y="1990373"/>
            <a:ext cx="109823" cy="2470785"/>
            <a:chOff x="892235" y="1990373"/>
            <a:chExt cx="109823" cy="2470785"/>
          </a:xfrm>
        </p:grpSpPr>
        <p:sp>
          <p:nvSpPr>
            <p:cNvPr id="146" name="曲线"/>
            <p:cNvSpPr>
              <a:spLocks/>
            </p:cNvSpPr>
            <p:nvPr/>
          </p:nvSpPr>
          <p:spPr>
            <a:xfrm rot="0">
              <a:off x="892235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48" name="矩形"/>
          <p:cNvSpPr>
            <a:spLocks/>
          </p:cNvSpPr>
          <p:nvPr/>
        </p:nvSpPr>
        <p:spPr>
          <a:xfrm rot="0">
            <a:off x="1326842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document generation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49" name="矩形"/>
          <p:cNvSpPr>
            <a:spLocks/>
          </p:cNvSpPr>
          <p:nvPr/>
        </p:nvSpPr>
        <p:spPr>
          <a:xfrm rot="0">
            <a:off x="1326842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Creates a draft from user inputs.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1" name="组合"/>
          <p:cNvGrpSpPr>
            <a:grpSpLocks/>
          </p:cNvGrpSpPr>
          <p:nvPr/>
        </p:nvGrpSpPr>
        <p:grpSpPr>
          <a:xfrm>
            <a:off x="6650307" y="1983228"/>
            <a:ext cx="5161789" cy="2485073"/>
            <a:chOff x="6650307" y="1983228"/>
            <a:chExt cx="5161789" cy="2485073"/>
          </a:xfrm>
        </p:grpSpPr>
        <p:sp>
          <p:nvSpPr>
            <p:cNvPr id="150" name="曲线"/>
            <p:cNvSpPr>
              <a:spLocks/>
            </p:cNvSpPr>
            <p:nvPr/>
          </p:nvSpPr>
          <p:spPr>
            <a:xfrm rot="0">
              <a:off x="6650307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3" name="组合"/>
          <p:cNvGrpSpPr>
            <a:grpSpLocks/>
          </p:cNvGrpSpPr>
          <p:nvPr/>
        </p:nvGrpSpPr>
        <p:grpSpPr>
          <a:xfrm>
            <a:off x="6657461" y="1990373"/>
            <a:ext cx="109823" cy="2470785"/>
            <a:chOff x="6657461" y="1990373"/>
            <a:chExt cx="109823" cy="2470785"/>
          </a:xfrm>
        </p:grpSpPr>
        <p:sp>
          <p:nvSpPr>
            <p:cNvPr id="152" name="曲线"/>
            <p:cNvSpPr>
              <a:spLocks/>
            </p:cNvSpPr>
            <p:nvPr/>
          </p:nvSpPr>
          <p:spPr>
            <a:xfrm rot="0">
              <a:off x="6657461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54" name="矩形"/>
          <p:cNvSpPr>
            <a:spLocks/>
          </p:cNvSpPr>
          <p:nvPr/>
        </p:nvSpPr>
        <p:spPr>
          <a:xfrm rot="0">
            <a:off x="7092066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Templates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55" name="矩形"/>
          <p:cNvSpPr>
            <a:spLocks/>
          </p:cNvSpPr>
          <p:nvPr/>
        </p:nvSpPr>
        <p:spPr>
          <a:xfrm rot="0">
            <a:off x="7092066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different document types.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57" name="组合"/>
          <p:cNvGrpSpPr>
            <a:grpSpLocks/>
          </p:cNvGrpSpPr>
          <p:nvPr/>
        </p:nvGrpSpPr>
        <p:grpSpPr>
          <a:xfrm>
            <a:off x="12415534" y="1983228"/>
            <a:ext cx="5161789" cy="2485073"/>
            <a:chOff x="12415534" y="1983228"/>
            <a:chExt cx="5161789" cy="2485073"/>
          </a:xfrm>
        </p:grpSpPr>
        <p:sp>
          <p:nvSpPr>
            <p:cNvPr id="156" name="曲线"/>
            <p:cNvSpPr>
              <a:spLocks/>
            </p:cNvSpPr>
            <p:nvPr/>
          </p:nvSpPr>
          <p:spPr>
            <a:xfrm rot="0">
              <a:off x="12415534" y="1983228"/>
              <a:ext cx="5161789" cy="248507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59" name="组合"/>
          <p:cNvGrpSpPr>
            <a:grpSpLocks/>
          </p:cNvGrpSpPr>
          <p:nvPr/>
        </p:nvGrpSpPr>
        <p:grpSpPr>
          <a:xfrm>
            <a:off x="12422686" y="1990373"/>
            <a:ext cx="109823" cy="2470785"/>
            <a:chOff x="12422686" y="1990373"/>
            <a:chExt cx="109823" cy="2470785"/>
          </a:xfrm>
        </p:grpSpPr>
        <p:sp>
          <p:nvSpPr>
            <p:cNvPr id="158" name="曲线"/>
            <p:cNvSpPr>
              <a:spLocks/>
            </p:cNvSpPr>
            <p:nvPr/>
          </p:nvSpPr>
          <p:spPr>
            <a:xfrm rot="0">
              <a:off x="12422686" y="1990373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0" name="矩形"/>
          <p:cNvSpPr>
            <a:spLocks/>
          </p:cNvSpPr>
          <p:nvPr/>
        </p:nvSpPr>
        <p:spPr>
          <a:xfrm rot="0">
            <a:off x="12857293" y="2198570"/>
            <a:ext cx="4346943" cy="34315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Easy editing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1" name="矩形"/>
          <p:cNvSpPr>
            <a:spLocks/>
          </p:cNvSpPr>
          <p:nvPr/>
        </p:nvSpPr>
        <p:spPr>
          <a:xfrm rot="0">
            <a:off x="12857293" y="2849051"/>
            <a:ext cx="4346943" cy="2628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Allows users to review and modify 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3" name="组合"/>
          <p:cNvGrpSpPr>
            <a:grpSpLocks/>
          </p:cNvGrpSpPr>
          <p:nvPr/>
        </p:nvGrpSpPr>
        <p:grpSpPr>
          <a:xfrm>
            <a:off x="885092" y="5071739"/>
            <a:ext cx="5161789" cy="2485072"/>
            <a:chOff x="885092" y="5071739"/>
            <a:chExt cx="5161789" cy="2485072"/>
          </a:xfrm>
        </p:grpSpPr>
        <p:sp>
          <p:nvSpPr>
            <p:cNvPr id="162" name="曲线"/>
            <p:cNvSpPr>
              <a:spLocks/>
            </p:cNvSpPr>
            <p:nvPr/>
          </p:nvSpPr>
          <p:spPr>
            <a:xfrm rot="0">
              <a:off x="885092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65" name="组合"/>
          <p:cNvGrpSpPr>
            <a:grpSpLocks/>
          </p:cNvGrpSpPr>
          <p:nvPr/>
        </p:nvGrpSpPr>
        <p:grpSpPr>
          <a:xfrm>
            <a:off x="892235" y="5078891"/>
            <a:ext cx="109823" cy="2470785"/>
            <a:chOff x="892235" y="5078891"/>
            <a:chExt cx="109823" cy="2470785"/>
          </a:xfrm>
        </p:grpSpPr>
        <p:sp>
          <p:nvSpPr>
            <p:cNvPr id="164" name="曲线"/>
            <p:cNvSpPr>
              <a:spLocks/>
            </p:cNvSpPr>
            <p:nvPr/>
          </p:nvSpPr>
          <p:spPr>
            <a:xfrm rot="0">
              <a:off x="892235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66" name="矩形"/>
          <p:cNvSpPr>
            <a:spLocks/>
          </p:cNvSpPr>
          <p:nvPr/>
        </p:nvSpPr>
        <p:spPr>
          <a:xfrm rot="0">
            <a:off x="1326842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Export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67" name="矩形"/>
          <p:cNvSpPr>
            <a:spLocks/>
          </p:cNvSpPr>
          <p:nvPr/>
        </p:nvSpPr>
        <p:spPr>
          <a:xfrm rot="0">
            <a:off x="1326842" y="5937561"/>
            <a:ext cx="4346943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produce a printable/downloadable document.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69" name="组合"/>
          <p:cNvGrpSpPr>
            <a:grpSpLocks/>
          </p:cNvGrpSpPr>
          <p:nvPr/>
        </p:nvGrpSpPr>
        <p:grpSpPr>
          <a:xfrm>
            <a:off x="6650307" y="5071739"/>
            <a:ext cx="5161789" cy="2485072"/>
            <a:chOff x="6650307" y="5071739"/>
            <a:chExt cx="5161789" cy="2485072"/>
          </a:xfrm>
        </p:grpSpPr>
        <p:sp>
          <p:nvSpPr>
            <p:cNvPr id="168" name="曲线"/>
            <p:cNvSpPr>
              <a:spLocks/>
            </p:cNvSpPr>
            <p:nvPr/>
          </p:nvSpPr>
          <p:spPr>
            <a:xfrm rot="0">
              <a:off x="6650307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1" name="组合"/>
          <p:cNvGrpSpPr>
            <a:grpSpLocks/>
          </p:cNvGrpSpPr>
          <p:nvPr/>
        </p:nvGrpSpPr>
        <p:grpSpPr>
          <a:xfrm>
            <a:off x="6657461" y="5078891"/>
            <a:ext cx="109823" cy="2470785"/>
            <a:chOff x="6657461" y="5078891"/>
            <a:chExt cx="109823" cy="2470785"/>
          </a:xfrm>
        </p:grpSpPr>
        <p:sp>
          <p:nvSpPr>
            <p:cNvPr id="170" name="曲线"/>
            <p:cNvSpPr>
              <a:spLocks/>
            </p:cNvSpPr>
            <p:nvPr/>
          </p:nvSpPr>
          <p:spPr>
            <a:xfrm rot="0">
              <a:off x="6657461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2" name="矩形"/>
          <p:cNvSpPr>
            <a:spLocks/>
          </p:cNvSpPr>
          <p:nvPr/>
        </p:nvSpPr>
        <p:spPr>
          <a:xfrm rot="0">
            <a:off x="7092066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Secure design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3" name="矩形"/>
          <p:cNvSpPr>
            <a:spLocks/>
          </p:cNvSpPr>
          <p:nvPr/>
        </p:nvSpPr>
        <p:spPr>
          <a:xfrm rot="0">
            <a:off x="7092066" y="5937561"/>
            <a:ext cx="4346943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Authentication and data protection can be included.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75" name="组合"/>
          <p:cNvGrpSpPr>
            <a:grpSpLocks/>
          </p:cNvGrpSpPr>
          <p:nvPr/>
        </p:nvGrpSpPr>
        <p:grpSpPr>
          <a:xfrm>
            <a:off x="12415534" y="5071739"/>
            <a:ext cx="5161789" cy="2485072"/>
            <a:chOff x="12415534" y="5071739"/>
            <a:chExt cx="5161789" cy="2485072"/>
          </a:xfrm>
        </p:grpSpPr>
        <p:sp>
          <p:nvSpPr>
            <p:cNvPr id="174" name="曲线"/>
            <p:cNvSpPr>
              <a:spLocks/>
            </p:cNvSpPr>
            <p:nvPr/>
          </p:nvSpPr>
          <p:spPr>
            <a:xfrm rot="0">
              <a:off x="12415534" y="5071739"/>
              <a:ext cx="5161789" cy="2485072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776" y="0"/>
                    <a:pt x="1733" y="0"/>
                  </a:cubicBezTo>
                  <a:lnTo>
                    <a:pt x="19866" y="0"/>
                  </a:lnTo>
                  <a:cubicBezTo>
                    <a:pt x="20824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0823" y="21600"/>
                    <a:pt x="19866" y="21600"/>
                  </a:cubicBezTo>
                  <a:lnTo>
                    <a:pt x="1733" y="21600"/>
                  </a:lnTo>
                  <a:cubicBezTo>
                    <a:pt x="776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177" name="组合"/>
          <p:cNvGrpSpPr>
            <a:grpSpLocks/>
          </p:cNvGrpSpPr>
          <p:nvPr/>
        </p:nvGrpSpPr>
        <p:grpSpPr>
          <a:xfrm>
            <a:off x="12422686" y="5078891"/>
            <a:ext cx="109823" cy="2470785"/>
            <a:chOff x="12422686" y="5078891"/>
            <a:chExt cx="109823" cy="2470785"/>
          </a:xfrm>
        </p:grpSpPr>
        <p:sp>
          <p:nvSpPr>
            <p:cNvPr id="176" name="曲线"/>
            <p:cNvSpPr>
              <a:spLocks/>
            </p:cNvSpPr>
            <p:nvPr/>
          </p:nvSpPr>
          <p:spPr>
            <a:xfrm rot="0">
              <a:off x="12422686" y="5078891"/>
              <a:ext cx="109823" cy="247078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178" name="矩形"/>
          <p:cNvSpPr>
            <a:spLocks/>
          </p:cNvSpPr>
          <p:nvPr/>
        </p:nvSpPr>
        <p:spPr>
          <a:xfrm rot="0">
            <a:off x="12857293" y="5287089"/>
            <a:ext cx="4346943" cy="34315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Simple interface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79" name="矩形"/>
          <p:cNvSpPr>
            <a:spLocks/>
          </p:cNvSpPr>
          <p:nvPr/>
        </p:nvSpPr>
        <p:spPr>
          <a:xfrm rot="0">
            <a:off x="12857293" y="5937561"/>
            <a:ext cx="4346943" cy="26288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Designed for users without technical expertise.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180" name="矩形"/>
          <p:cNvSpPr>
            <a:spLocks/>
          </p:cNvSpPr>
          <p:nvPr/>
        </p:nvSpPr>
        <p:spPr>
          <a:xfrm rot="0">
            <a:off x="16426244" y="9694488"/>
            <a:ext cx="640727" cy="2057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6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149927"/>
      </p:ext>
    </p:extLst>
  </p:cSld>
  <p:clrMapOvr>
    <a:masterClrMapping/>
  </p:clrMapOvr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6. Technology Stack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2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implementation technologies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184" name="组合"/>
          <p:cNvGrpSpPr>
            <a:grpSpLocks/>
          </p:cNvGrpSpPr>
          <p:nvPr/>
        </p:nvGrpSpPr>
        <p:grpSpPr>
          <a:xfrm>
            <a:off x="1365523" y="1845955"/>
            <a:ext cx="3034188" cy="769239"/>
            <a:chOff x="1365523" y="1845955"/>
            <a:chExt cx="3034188" cy="769239"/>
          </a:xfrm>
        </p:grpSpPr>
        <p:sp>
          <p:nvSpPr>
            <p:cNvPr id="183" name="曲线"/>
            <p:cNvSpPr>
              <a:spLocks/>
            </p:cNvSpPr>
            <p:nvPr/>
          </p:nvSpPr>
          <p:spPr>
            <a:xfrm rot="0">
              <a:off x="1365523" y="184595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5" name="矩形"/>
          <p:cNvSpPr>
            <a:spLocks/>
          </p:cNvSpPr>
          <p:nvPr/>
        </p:nvSpPr>
        <p:spPr>
          <a:xfrm rot="0">
            <a:off x="1573930" y="1970541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Frontend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87" name="组合"/>
          <p:cNvGrpSpPr>
            <a:grpSpLocks/>
          </p:cNvGrpSpPr>
          <p:nvPr/>
        </p:nvGrpSpPr>
        <p:grpSpPr>
          <a:xfrm>
            <a:off x="4728572" y="1845955"/>
            <a:ext cx="10858404" cy="769239"/>
            <a:chOff x="4728572" y="1845955"/>
            <a:chExt cx="10858404" cy="769239"/>
          </a:xfrm>
        </p:grpSpPr>
        <p:sp>
          <p:nvSpPr>
            <p:cNvPr id="186" name="曲线"/>
            <p:cNvSpPr>
              <a:spLocks/>
            </p:cNvSpPr>
            <p:nvPr/>
          </p:nvSpPr>
          <p:spPr>
            <a:xfrm rot="0">
              <a:off x="4728572" y="184595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88" name="矩形"/>
          <p:cNvSpPr>
            <a:spLocks/>
          </p:cNvSpPr>
          <p:nvPr/>
        </p:nvSpPr>
        <p:spPr>
          <a:xfrm rot="0">
            <a:off x="4936969" y="1970541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HTML • CSS • JavaScript / React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89" name="直线"/>
          <p:cNvSpPr>
            <a:spLocks/>
          </p:cNvSpPr>
          <p:nvPr/>
        </p:nvSpPr>
        <p:spPr>
          <a:xfrm rot="5080260">
            <a:off x="2677353" y="2783862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1" name="组合"/>
          <p:cNvGrpSpPr>
            <a:grpSpLocks/>
          </p:cNvGrpSpPr>
          <p:nvPr/>
        </p:nvGrpSpPr>
        <p:grpSpPr>
          <a:xfrm>
            <a:off x="1365523" y="2971551"/>
            <a:ext cx="3034188" cy="769239"/>
            <a:chOff x="1365523" y="2971551"/>
            <a:chExt cx="3034188" cy="769239"/>
          </a:xfrm>
        </p:grpSpPr>
        <p:sp>
          <p:nvSpPr>
            <p:cNvPr id="190" name="曲线"/>
            <p:cNvSpPr>
              <a:spLocks/>
            </p:cNvSpPr>
            <p:nvPr/>
          </p:nvSpPr>
          <p:spPr>
            <a:xfrm rot="0">
              <a:off x="1365523" y="297155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2" name="矩形"/>
          <p:cNvSpPr>
            <a:spLocks/>
          </p:cNvSpPr>
          <p:nvPr/>
        </p:nvSpPr>
        <p:spPr>
          <a:xfrm rot="0">
            <a:off x="1573930" y="3096130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Backend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194" name="组合"/>
          <p:cNvGrpSpPr>
            <a:grpSpLocks/>
          </p:cNvGrpSpPr>
          <p:nvPr/>
        </p:nvGrpSpPr>
        <p:grpSpPr>
          <a:xfrm>
            <a:off x="4728572" y="2971551"/>
            <a:ext cx="10858404" cy="769239"/>
            <a:chOff x="4728572" y="2971551"/>
            <a:chExt cx="10858404" cy="769239"/>
          </a:xfrm>
        </p:grpSpPr>
        <p:sp>
          <p:nvSpPr>
            <p:cNvPr id="193" name="曲线"/>
            <p:cNvSpPr>
              <a:spLocks/>
            </p:cNvSpPr>
            <p:nvPr/>
          </p:nvSpPr>
          <p:spPr>
            <a:xfrm rot="0">
              <a:off x="4728572" y="297155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5" name="矩形"/>
          <p:cNvSpPr>
            <a:spLocks/>
          </p:cNvSpPr>
          <p:nvPr/>
        </p:nvSpPr>
        <p:spPr>
          <a:xfrm rot="0">
            <a:off x="4936969" y="3096130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Python / Node.js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196" name="直线"/>
          <p:cNvSpPr>
            <a:spLocks/>
          </p:cNvSpPr>
          <p:nvPr/>
        </p:nvSpPr>
        <p:spPr>
          <a:xfrm rot="5080260">
            <a:off x="2677353" y="3909450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198" name="组合"/>
          <p:cNvGrpSpPr>
            <a:grpSpLocks/>
          </p:cNvGrpSpPr>
          <p:nvPr/>
        </p:nvGrpSpPr>
        <p:grpSpPr>
          <a:xfrm>
            <a:off x="1365523" y="4097141"/>
            <a:ext cx="3034188" cy="769239"/>
            <a:chOff x="1365523" y="4097141"/>
            <a:chExt cx="3034188" cy="769239"/>
          </a:xfrm>
        </p:grpSpPr>
        <p:sp>
          <p:nvSpPr>
            <p:cNvPr id="197" name="曲线"/>
            <p:cNvSpPr>
              <a:spLocks/>
            </p:cNvSpPr>
            <p:nvPr/>
          </p:nvSpPr>
          <p:spPr>
            <a:xfrm rot="0">
              <a:off x="1365523" y="4097141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199" name="矩形"/>
          <p:cNvSpPr>
            <a:spLocks/>
          </p:cNvSpPr>
          <p:nvPr/>
        </p:nvSpPr>
        <p:spPr>
          <a:xfrm rot="0">
            <a:off x="1573930" y="4221728"/>
            <a:ext cx="2617375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Layer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1" name="组合"/>
          <p:cNvGrpSpPr>
            <a:grpSpLocks/>
          </p:cNvGrpSpPr>
          <p:nvPr/>
        </p:nvGrpSpPr>
        <p:grpSpPr>
          <a:xfrm>
            <a:off x="4728572" y="4097141"/>
            <a:ext cx="10858404" cy="769239"/>
            <a:chOff x="4728572" y="4097141"/>
            <a:chExt cx="10858404" cy="769239"/>
          </a:xfrm>
        </p:grpSpPr>
        <p:sp>
          <p:nvSpPr>
            <p:cNvPr id="200" name="曲线"/>
            <p:cNvSpPr>
              <a:spLocks/>
            </p:cNvSpPr>
            <p:nvPr/>
          </p:nvSpPr>
          <p:spPr>
            <a:xfrm rot="0">
              <a:off x="4728572" y="4097141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2" name="矩形"/>
          <p:cNvSpPr>
            <a:spLocks/>
          </p:cNvSpPr>
          <p:nvPr/>
        </p:nvSpPr>
        <p:spPr>
          <a:xfrm rot="0">
            <a:off x="4936969" y="4221728"/>
            <a:ext cx="10441600" cy="48200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NLP + Large Language Model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03" name="直线"/>
          <p:cNvSpPr>
            <a:spLocks/>
          </p:cNvSpPr>
          <p:nvPr/>
        </p:nvSpPr>
        <p:spPr>
          <a:xfrm rot="5080260">
            <a:off x="2677353" y="5035048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05" name="组合"/>
          <p:cNvGrpSpPr>
            <a:grpSpLocks/>
          </p:cNvGrpSpPr>
          <p:nvPr/>
        </p:nvGrpSpPr>
        <p:grpSpPr>
          <a:xfrm>
            <a:off x="1365523" y="5222729"/>
            <a:ext cx="3034188" cy="769239"/>
            <a:chOff x="1365523" y="5222729"/>
            <a:chExt cx="3034188" cy="769239"/>
          </a:xfrm>
        </p:grpSpPr>
        <p:sp>
          <p:nvSpPr>
            <p:cNvPr id="204" name="曲线"/>
            <p:cNvSpPr>
              <a:spLocks/>
            </p:cNvSpPr>
            <p:nvPr/>
          </p:nvSpPr>
          <p:spPr>
            <a:xfrm rot="0">
              <a:off x="1365523" y="5222729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6" name="矩形"/>
          <p:cNvSpPr>
            <a:spLocks/>
          </p:cNvSpPr>
          <p:nvPr/>
        </p:nvSpPr>
        <p:spPr>
          <a:xfrm rot="0">
            <a:off x="1573930" y="5347316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Database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08" name="组合"/>
          <p:cNvGrpSpPr>
            <a:grpSpLocks/>
          </p:cNvGrpSpPr>
          <p:nvPr/>
        </p:nvGrpSpPr>
        <p:grpSpPr>
          <a:xfrm>
            <a:off x="4728572" y="5222729"/>
            <a:ext cx="10858404" cy="769239"/>
            <a:chOff x="4728572" y="5222729"/>
            <a:chExt cx="10858404" cy="769239"/>
          </a:xfrm>
        </p:grpSpPr>
        <p:sp>
          <p:nvSpPr>
            <p:cNvPr id="207" name="曲线"/>
            <p:cNvSpPr>
              <a:spLocks/>
            </p:cNvSpPr>
            <p:nvPr/>
          </p:nvSpPr>
          <p:spPr>
            <a:xfrm rot="0">
              <a:off x="4728572" y="5222729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09" name="矩形"/>
          <p:cNvSpPr>
            <a:spLocks/>
          </p:cNvSpPr>
          <p:nvPr/>
        </p:nvSpPr>
        <p:spPr>
          <a:xfrm rot="0">
            <a:off x="4936969" y="5347316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MySQL / MongoDB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0" name="直线"/>
          <p:cNvSpPr>
            <a:spLocks/>
          </p:cNvSpPr>
          <p:nvPr/>
        </p:nvSpPr>
        <p:spPr>
          <a:xfrm rot="5080260">
            <a:off x="2677353" y="6160637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2" name="组合"/>
          <p:cNvGrpSpPr>
            <a:grpSpLocks/>
          </p:cNvGrpSpPr>
          <p:nvPr/>
        </p:nvGrpSpPr>
        <p:grpSpPr>
          <a:xfrm>
            <a:off x="1365523" y="6348327"/>
            <a:ext cx="3034188" cy="769239"/>
            <a:chOff x="1365523" y="6348327"/>
            <a:chExt cx="3034188" cy="769239"/>
          </a:xfrm>
        </p:grpSpPr>
        <p:sp>
          <p:nvSpPr>
            <p:cNvPr id="211" name="曲线"/>
            <p:cNvSpPr>
              <a:spLocks/>
            </p:cNvSpPr>
            <p:nvPr/>
          </p:nvSpPr>
          <p:spPr>
            <a:xfrm rot="0">
              <a:off x="1365523" y="6348327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3" name="矩形"/>
          <p:cNvSpPr>
            <a:spLocks/>
          </p:cNvSpPr>
          <p:nvPr/>
        </p:nvSpPr>
        <p:spPr>
          <a:xfrm rot="0">
            <a:off x="1573930" y="6472904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Document Output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15" name="组合"/>
          <p:cNvGrpSpPr>
            <a:grpSpLocks/>
          </p:cNvGrpSpPr>
          <p:nvPr/>
        </p:nvGrpSpPr>
        <p:grpSpPr>
          <a:xfrm>
            <a:off x="4728572" y="6348327"/>
            <a:ext cx="10858404" cy="769239"/>
            <a:chOff x="4728572" y="6348327"/>
            <a:chExt cx="10858404" cy="769239"/>
          </a:xfrm>
        </p:grpSpPr>
        <p:sp>
          <p:nvSpPr>
            <p:cNvPr id="214" name="曲线"/>
            <p:cNvSpPr>
              <a:spLocks/>
            </p:cNvSpPr>
            <p:nvPr/>
          </p:nvSpPr>
          <p:spPr>
            <a:xfrm rot="0">
              <a:off x="4728572" y="6348327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16" name="矩形"/>
          <p:cNvSpPr>
            <a:spLocks/>
          </p:cNvSpPr>
          <p:nvPr/>
        </p:nvSpPr>
        <p:spPr>
          <a:xfrm rot="0">
            <a:off x="4936969" y="6472904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PDF / DOCX generation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17" name="直线"/>
          <p:cNvSpPr>
            <a:spLocks/>
          </p:cNvSpPr>
          <p:nvPr/>
        </p:nvSpPr>
        <p:spPr>
          <a:xfrm rot="5080260">
            <a:off x="2677353" y="7286225"/>
            <a:ext cx="41052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19" name="组合"/>
          <p:cNvGrpSpPr>
            <a:grpSpLocks/>
          </p:cNvGrpSpPr>
          <p:nvPr/>
        </p:nvGrpSpPr>
        <p:grpSpPr>
          <a:xfrm>
            <a:off x="1365523" y="7473915"/>
            <a:ext cx="3034188" cy="769239"/>
            <a:chOff x="1365523" y="7473915"/>
            <a:chExt cx="3034188" cy="769239"/>
          </a:xfrm>
        </p:grpSpPr>
        <p:sp>
          <p:nvSpPr>
            <p:cNvPr id="218" name="曲线"/>
            <p:cNvSpPr>
              <a:spLocks/>
            </p:cNvSpPr>
            <p:nvPr/>
          </p:nvSpPr>
          <p:spPr>
            <a:xfrm rot="0">
              <a:off x="1365523" y="7473915"/>
              <a:ext cx="3034188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408" y="0"/>
                    <a:pt x="912" y="0"/>
                  </a:cubicBezTo>
                  <a:lnTo>
                    <a:pt x="20687" y="0"/>
                  </a:lnTo>
                  <a:cubicBezTo>
                    <a:pt x="21191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191" y="21600"/>
                    <a:pt x="20687" y="21600"/>
                  </a:cubicBezTo>
                  <a:lnTo>
                    <a:pt x="912" y="21600"/>
                  </a:lnTo>
                  <a:cubicBezTo>
                    <a:pt x="408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0" name="矩形"/>
          <p:cNvSpPr>
            <a:spLocks/>
          </p:cNvSpPr>
          <p:nvPr/>
        </p:nvSpPr>
        <p:spPr>
          <a:xfrm rot="0">
            <a:off x="1573930" y="7598493"/>
            <a:ext cx="2617375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Security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22" name="组合"/>
          <p:cNvGrpSpPr>
            <a:grpSpLocks/>
          </p:cNvGrpSpPr>
          <p:nvPr/>
        </p:nvGrpSpPr>
        <p:grpSpPr>
          <a:xfrm>
            <a:off x="4728572" y="7473915"/>
            <a:ext cx="10858404" cy="769239"/>
            <a:chOff x="4728572" y="7473915"/>
            <a:chExt cx="10858404" cy="769239"/>
          </a:xfrm>
        </p:grpSpPr>
        <p:sp>
          <p:nvSpPr>
            <p:cNvPr id="221" name="曲线"/>
            <p:cNvSpPr>
              <a:spLocks/>
            </p:cNvSpPr>
            <p:nvPr/>
          </p:nvSpPr>
          <p:spPr>
            <a:xfrm rot="0">
              <a:off x="4728572" y="7473915"/>
              <a:ext cx="10858404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14" y="0"/>
                    <a:pt x="255" y="0"/>
                  </a:cubicBezTo>
                  <a:lnTo>
                    <a:pt x="21344" y="0"/>
                  </a:lnTo>
                  <a:cubicBezTo>
                    <a:pt x="21485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85" y="21600"/>
                    <a:pt x="21344" y="21600"/>
                  </a:cubicBezTo>
                  <a:lnTo>
                    <a:pt x="255" y="21600"/>
                  </a:lnTo>
                  <a:cubicBezTo>
                    <a:pt x="114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EEF4FC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23" name="矩形"/>
          <p:cNvSpPr>
            <a:spLocks/>
          </p:cNvSpPr>
          <p:nvPr/>
        </p:nvSpPr>
        <p:spPr>
          <a:xfrm rot="0">
            <a:off x="4936969" y="7598493"/>
            <a:ext cx="10441600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Authentication + access control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7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8382"/>
      </p:ext>
    </p:extLst>
  </p:cSld>
  <p:clrMapOvr>
    <a:masterClrMapping/>
  </p:clrMapOvr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7. Advantages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26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Potential benefits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28" name="组合"/>
          <p:cNvGrpSpPr>
            <a:grpSpLocks/>
          </p:cNvGrpSpPr>
          <p:nvPr/>
        </p:nvGrpSpPr>
        <p:grpSpPr>
          <a:xfrm>
            <a:off x="1022356" y="1914592"/>
            <a:ext cx="7632667" cy="1798890"/>
            <a:chOff x="1022356" y="1914592"/>
            <a:chExt cx="7632667" cy="1798890"/>
          </a:xfrm>
        </p:grpSpPr>
        <p:sp>
          <p:nvSpPr>
            <p:cNvPr id="227" name="曲线"/>
            <p:cNvSpPr>
              <a:spLocks/>
            </p:cNvSpPr>
            <p:nvPr/>
          </p:nvSpPr>
          <p:spPr>
            <a:xfrm rot="0">
              <a:off x="1022356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0" name="组合"/>
          <p:cNvGrpSpPr>
            <a:grpSpLocks/>
          </p:cNvGrpSpPr>
          <p:nvPr/>
        </p:nvGrpSpPr>
        <p:grpSpPr>
          <a:xfrm>
            <a:off x="1029500" y="1921744"/>
            <a:ext cx="109823" cy="1784509"/>
            <a:chOff x="1029500" y="1921744"/>
            <a:chExt cx="109823" cy="1784509"/>
          </a:xfrm>
        </p:grpSpPr>
        <p:sp>
          <p:nvSpPr>
            <p:cNvPr id="229" name="曲线"/>
            <p:cNvSpPr>
              <a:spLocks/>
            </p:cNvSpPr>
            <p:nvPr/>
          </p:nvSpPr>
          <p:spPr>
            <a:xfrm rot="0">
              <a:off x="1029500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1" name="矩形"/>
          <p:cNvSpPr>
            <a:spLocks/>
          </p:cNvSpPr>
          <p:nvPr/>
        </p:nvSpPr>
        <p:spPr>
          <a:xfrm rot="0">
            <a:off x="1464116" y="2129933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Faster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2" name="矩形"/>
          <p:cNvSpPr>
            <a:spLocks/>
          </p:cNvSpPr>
          <p:nvPr/>
        </p:nvSpPr>
        <p:spPr>
          <a:xfrm rot="0">
            <a:off x="1464116" y="2780413"/>
            <a:ext cx="6817747" cy="701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Reduces repetitive drafting work.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34" name="组合"/>
          <p:cNvGrpSpPr>
            <a:grpSpLocks/>
          </p:cNvGrpSpPr>
          <p:nvPr/>
        </p:nvGrpSpPr>
        <p:grpSpPr>
          <a:xfrm>
            <a:off x="9464288" y="1914592"/>
            <a:ext cx="7632667" cy="1798890"/>
            <a:chOff x="9464288" y="1914592"/>
            <a:chExt cx="7632667" cy="1798890"/>
          </a:xfrm>
        </p:grpSpPr>
        <p:sp>
          <p:nvSpPr>
            <p:cNvPr id="233" name="曲线"/>
            <p:cNvSpPr>
              <a:spLocks/>
            </p:cNvSpPr>
            <p:nvPr/>
          </p:nvSpPr>
          <p:spPr>
            <a:xfrm rot="0">
              <a:off x="9464288" y="1914592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36" name="组合"/>
          <p:cNvGrpSpPr>
            <a:grpSpLocks/>
          </p:cNvGrpSpPr>
          <p:nvPr/>
        </p:nvGrpSpPr>
        <p:grpSpPr>
          <a:xfrm>
            <a:off x="9471441" y="1921744"/>
            <a:ext cx="109823" cy="1784509"/>
            <a:chOff x="9471441" y="1921744"/>
            <a:chExt cx="109823" cy="1784509"/>
          </a:xfrm>
        </p:grpSpPr>
        <p:sp>
          <p:nvSpPr>
            <p:cNvPr id="235" name="曲线"/>
            <p:cNvSpPr>
              <a:spLocks/>
            </p:cNvSpPr>
            <p:nvPr/>
          </p:nvSpPr>
          <p:spPr>
            <a:xfrm rot="0">
              <a:off x="9471441" y="192174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37" name="矩形"/>
          <p:cNvSpPr>
            <a:spLocks/>
          </p:cNvSpPr>
          <p:nvPr/>
        </p:nvSpPr>
        <p:spPr>
          <a:xfrm rot="0">
            <a:off x="9906048" y="2129933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Accessible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38" name="矩形"/>
          <p:cNvSpPr>
            <a:spLocks/>
          </p:cNvSpPr>
          <p:nvPr/>
        </p:nvSpPr>
        <p:spPr>
          <a:xfrm rot="0">
            <a:off x="9906048" y="2780413"/>
            <a:ext cx="6817747" cy="701631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Makes basic drafting easier to approach.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0" name="组合"/>
          <p:cNvGrpSpPr>
            <a:grpSpLocks/>
          </p:cNvGrpSpPr>
          <p:nvPr/>
        </p:nvGrpSpPr>
        <p:grpSpPr>
          <a:xfrm>
            <a:off x="1022356" y="4248131"/>
            <a:ext cx="7632667" cy="1798890"/>
            <a:chOff x="1022356" y="4248131"/>
            <a:chExt cx="7632667" cy="1798890"/>
          </a:xfrm>
        </p:grpSpPr>
        <p:sp>
          <p:nvSpPr>
            <p:cNvPr id="239" name="曲线"/>
            <p:cNvSpPr>
              <a:spLocks/>
            </p:cNvSpPr>
            <p:nvPr/>
          </p:nvSpPr>
          <p:spPr>
            <a:xfrm rot="0">
              <a:off x="1022356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2" name="组合"/>
          <p:cNvGrpSpPr>
            <a:grpSpLocks/>
          </p:cNvGrpSpPr>
          <p:nvPr/>
        </p:nvGrpSpPr>
        <p:grpSpPr>
          <a:xfrm>
            <a:off x="1029500" y="4255284"/>
            <a:ext cx="109823" cy="1784509"/>
            <a:chOff x="1029500" y="4255284"/>
            <a:chExt cx="109823" cy="1784509"/>
          </a:xfrm>
        </p:grpSpPr>
        <p:sp>
          <p:nvSpPr>
            <p:cNvPr id="241" name="曲线"/>
            <p:cNvSpPr>
              <a:spLocks/>
            </p:cNvSpPr>
            <p:nvPr/>
          </p:nvSpPr>
          <p:spPr>
            <a:xfrm rot="0">
              <a:off x="1029500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3" name="矩形"/>
          <p:cNvSpPr>
            <a:spLocks/>
          </p:cNvSpPr>
          <p:nvPr/>
        </p:nvSpPr>
        <p:spPr>
          <a:xfrm rot="0">
            <a:off x="1464116" y="4463482"/>
            <a:ext cx="6817747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Consistent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44" name="矩形"/>
          <p:cNvSpPr>
            <a:spLocks/>
          </p:cNvSpPr>
          <p:nvPr/>
        </p:nvSpPr>
        <p:spPr>
          <a:xfrm rot="0">
            <a:off x="1464116" y="5113963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structured templates.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46" name="组合"/>
          <p:cNvGrpSpPr>
            <a:grpSpLocks/>
          </p:cNvGrpSpPr>
          <p:nvPr/>
        </p:nvGrpSpPr>
        <p:grpSpPr>
          <a:xfrm>
            <a:off x="9464288" y="4248131"/>
            <a:ext cx="7632667" cy="1798890"/>
            <a:chOff x="9464288" y="4248131"/>
            <a:chExt cx="7632667" cy="1798890"/>
          </a:xfrm>
        </p:grpSpPr>
        <p:sp>
          <p:nvSpPr>
            <p:cNvPr id="245" name="曲线"/>
            <p:cNvSpPr>
              <a:spLocks/>
            </p:cNvSpPr>
            <p:nvPr/>
          </p:nvSpPr>
          <p:spPr>
            <a:xfrm rot="0">
              <a:off x="9464288" y="4248131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48" name="组合"/>
          <p:cNvGrpSpPr>
            <a:grpSpLocks/>
          </p:cNvGrpSpPr>
          <p:nvPr/>
        </p:nvGrpSpPr>
        <p:grpSpPr>
          <a:xfrm>
            <a:off x="9471441" y="4255284"/>
            <a:ext cx="109823" cy="1784509"/>
            <a:chOff x="9471441" y="4255284"/>
            <a:chExt cx="109823" cy="1784509"/>
          </a:xfrm>
        </p:grpSpPr>
        <p:sp>
          <p:nvSpPr>
            <p:cNvPr id="247" name="曲线"/>
            <p:cNvSpPr>
              <a:spLocks/>
            </p:cNvSpPr>
            <p:nvPr/>
          </p:nvSpPr>
          <p:spPr>
            <a:xfrm rot="0">
              <a:off x="9471441" y="425528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49" name="矩形"/>
          <p:cNvSpPr>
            <a:spLocks/>
          </p:cNvSpPr>
          <p:nvPr/>
        </p:nvSpPr>
        <p:spPr>
          <a:xfrm rot="0">
            <a:off x="9906048" y="4463482"/>
            <a:ext cx="6817747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Convenient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0" name="矩形"/>
          <p:cNvSpPr>
            <a:spLocks/>
          </p:cNvSpPr>
          <p:nvPr/>
        </p:nvSpPr>
        <p:spPr>
          <a:xfrm rot="0">
            <a:off x="9906048" y="5113963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Supports editing and export.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2" name="组合"/>
          <p:cNvGrpSpPr>
            <a:grpSpLocks/>
          </p:cNvGrpSpPr>
          <p:nvPr/>
        </p:nvGrpSpPr>
        <p:grpSpPr>
          <a:xfrm>
            <a:off x="1022356" y="6581679"/>
            <a:ext cx="7632667" cy="1798890"/>
            <a:chOff x="1022356" y="6581679"/>
            <a:chExt cx="7632667" cy="1798890"/>
          </a:xfrm>
        </p:grpSpPr>
        <p:sp>
          <p:nvSpPr>
            <p:cNvPr id="251" name="曲线"/>
            <p:cNvSpPr>
              <a:spLocks/>
            </p:cNvSpPr>
            <p:nvPr/>
          </p:nvSpPr>
          <p:spPr>
            <a:xfrm rot="0">
              <a:off x="1022356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54" name="组合"/>
          <p:cNvGrpSpPr>
            <a:grpSpLocks/>
          </p:cNvGrpSpPr>
          <p:nvPr/>
        </p:nvGrpSpPr>
        <p:grpSpPr>
          <a:xfrm>
            <a:off x="1029500" y="6588824"/>
            <a:ext cx="109823" cy="1784509"/>
            <a:chOff x="1029500" y="6588824"/>
            <a:chExt cx="109823" cy="1784509"/>
          </a:xfrm>
        </p:grpSpPr>
        <p:sp>
          <p:nvSpPr>
            <p:cNvPr id="253" name="曲线"/>
            <p:cNvSpPr>
              <a:spLocks/>
            </p:cNvSpPr>
            <p:nvPr/>
          </p:nvSpPr>
          <p:spPr>
            <a:xfrm rot="0">
              <a:off x="1029500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69D91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55" name="矩形"/>
          <p:cNvSpPr>
            <a:spLocks/>
          </p:cNvSpPr>
          <p:nvPr/>
        </p:nvSpPr>
        <p:spPr>
          <a:xfrm rot="0">
            <a:off x="1464116" y="6797021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Scalable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56" name="矩形"/>
          <p:cNvSpPr>
            <a:spLocks/>
          </p:cNvSpPr>
          <p:nvPr/>
        </p:nvSpPr>
        <p:spPr>
          <a:xfrm rot="0">
            <a:off x="1464116" y="7447502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New templates can be added.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58" name="组合"/>
          <p:cNvGrpSpPr>
            <a:grpSpLocks/>
          </p:cNvGrpSpPr>
          <p:nvPr/>
        </p:nvGrpSpPr>
        <p:grpSpPr>
          <a:xfrm>
            <a:off x="9464288" y="6581679"/>
            <a:ext cx="7632667" cy="1798890"/>
            <a:chOff x="9464288" y="6581679"/>
            <a:chExt cx="7632667" cy="1798890"/>
          </a:xfrm>
        </p:grpSpPr>
        <p:sp>
          <p:nvSpPr>
            <p:cNvPr id="257" name="曲线"/>
            <p:cNvSpPr>
              <a:spLocks/>
            </p:cNvSpPr>
            <p:nvPr/>
          </p:nvSpPr>
          <p:spPr>
            <a:xfrm rot="0">
              <a:off x="9464288" y="6581679"/>
              <a:ext cx="7632667" cy="179889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79" y="0"/>
                    <a:pt x="848" y="0"/>
                  </a:cubicBezTo>
                  <a:lnTo>
                    <a:pt x="20751" y="0"/>
                  </a:lnTo>
                  <a:cubicBezTo>
                    <a:pt x="2121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220" y="21600"/>
                    <a:pt x="20751" y="21600"/>
                  </a:cubicBezTo>
                  <a:lnTo>
                    <a:pt x="848" y="21600"/>
                  </a:lnTo>
                  <a:cubicBezTo>
                    <a:pt x="379" y="21598"/>
                    <a:pt x="0" y="19987"/>
                    <a:pt x="0" y="17998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60" name="组合"/>
          <p:cNvGrpSpPr>
            <a:grpSpLocks/>
          </p:cNvGrpSpPr>
          <p:nvPr/>
        </p:nvGrpSpPr>
        <p:grpSpPr>
          <a:xfrm>
            <a:off x="9471441" y="6588824"/>
            <a:ext cx="109823" cy="1784509"/>
            <a:chOff x="9471441" y="6588824"/>
            <a:chExt cx="109823" cy="1784509"/>
          </a:xfrm>
        </p:grpSpPr>
        <p:sp>
          <p:nvSpPr>
            <p:cNvPr id="259" name="曲线"/>
            <p:cNvSpPr>
              <a:spLocks/>
            </p:cNvSpPr>
            <p:nvPr/>
          </p:nvSpPr>
          <p:spPr>
            <a:xfrm rot="0">
              <a:off x="9471441" y="6588824"/>
              <a:ext cx="109823" cy="178450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162D4E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61" name="矩形"/>
          <p:cNvSpPr>
            <a:spLocks/>
          </p:cNvSpPr>
          <p:nvPr/>
        </p:nvSpPr>
        <p:spPr>
          <a:xfrm rot="0">
            <a:off x="9906048" y="6797021"/>
            <a:ext cx="6817747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Assistive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2" name="矩形"/>
          <p:cNvSpPr>
            <a:spLocks/>
          </p:cNvSpPr>
          <p:nvPr/>
        </p:nvSpPr>
        <p:spPr>
          <a:xfrm rot="0">
            <a:off x="9906048" y="7447502"/>
            <a:ext cx="6817747" cy="70163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Provides a starting draft for review.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64" name="组合"/>
          <p:cNvGrpSpPr>
            <a:grpSpLocks/>
          </p:cNvGrpSpPr>
          <p:nvPr/>
        </p:nvGrpSpPr>
        <p:grpSpPr>
          <a:xfrm>
            <a:off x="4454033" y="8709317"/>
            <a:ext cx="9348502" cy="769239"/>
            <a:chOff x="4454033" y="8709317"/>
            <a:chExt cx="9348502" cy="769239"/>
          </a:xfrm>
        </p:grpSpPr>
        <p:sp>
          <p:nvSpPr>
            <p:cNvPr id="263" name="曲线"/>
            <p:cNvSpPr>
              <a:spLocks/>
            </p:cNvSpPr>
            <p:nvPr/>
          </p:nvSpPr>
          <p:spPr>
            <a:xfrm rot="0">
              <a:off x="4454033" y="8709317"/>
              <a:ext cx="9348502" cy="76923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2"/>
                    <a:pt x="132" y="0"/>
                    <a:pt x="296" y="0"/>
                  </a:cubicBezTo>
                  <a:lnTo>
                    <a:pt x="21303" y="0"/>
                  </a:lnTo>
                  <a:cubicBezTo>
                    <a:pt x="21467" y="0"/>
                    <a:pt x="21600" y="1612"/>
                    <a:pt x="21600" y="3599"/>
                  </a:cubicBezTo>
                  <a:lnTo>
                    <a:pt x="21600" y="18000"/>
                  </a:lnTo>
                  <a:cubicBezTo>
                    <a:pt x="21600" y="19987"/>
                    <a:pt x="21467" y="21600"/>
                    <a:pt x="21303" y="21600"/>
                  </a:cubicBezTo>
                  <a:lnTo>
                    <a:pt x="296" y="21600"/>
                  </a:lnTo>
                  <a:cubicBezTo>
                    <a:pt x="132" y="21600"/>
                    <a:pt x="0" y="19989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65" name="矩形"/>
          <p:cNvSpPr>
            <a:spLocks/>
          </p:cNvSpPr>
          <p:nvPr/>
        </p:nvSpPr>
        <p:spPr>
          <a:xfrm rot="0">
            <a:off x="4662440" y="8833904"/>
            <a:ext cx="8931669" cy="482002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AI ASSISTS — HUMAN REVIEW REMAINS IMPORTANT</a:t>
            </a:r>
            <a:endParaRPr lang="zh-CN" altLang="en-US" sz="18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6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8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363280"/>
      </p:ext>
    </p:extLst>
  </p:cSld>
  <p:clrMapOvr>
    <a:masterClrMapping/>
  </p:clrMapOvr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8. Future Scope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68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Possible enhancements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70" name="组合"/>
          <p:cNvGrpSpPr>
            <a:grpSpLocks/>
          </p:cNvGrpSpPr>
          <p:nvPr/>
        </p:nvGrpSpPr>
        <p:grpSpPr>
          <a:xfrm>
            <a:off x="816454" y="3287267"/>
            <a:ext cx="2965513" cy="1386935"/>
            <a:chOff x="816454" y="3287267"/>
            <a:chExt cx="2965513" cy="1386935"/>
          </a:xfrm>
        </p:grpSpPr>
        <p:sp>
          <p:nvSpPr>
            <p:cNvPr id="269" name="曲线"/>
            <p:cNvSpPr>
              <a:spLocks/>
            </p:cNvSpPr>
            <p:nvPr/>
          </p:nvSpPr>
          <p:spPr>
            <a:xfrm rot="0">
              <a:off x="816454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1" name="矩形"/>
          <p:cNvSpPr>
            <a:spLocks/>
          </p:cNvSpPr>
          <p:nvPr/>
        </p:nvSpPr>
        <p:spPr>
          <a:xfrm rot="0">
            <a:off x="1024861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VOICE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INPUT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3" name="组合"/>
          <p:cNvGrpSpPr>
            <a:grpSpLocks/>
          </p:cNvGrpSpPr>
          <p:nvPr/>
        </p:nvGrpSpPr>
        <p:grpSpPr>
          <a:xfrm>
            <a:off x="4385405" y="3287267"/>
            <a:ext cx="2965514" cy="1386935"/>
            <a:chOff x="4385405" y="3287267"/>
            <a:chExt cx="2965514" cy="1386935"/>
          </a:xfrm>
        </p:grpSpPr>
        <p:sp>
          <p:nvSpPr>
            <p:cNvPr id="272" name="曲线"/>
            <p:cNvSpPr>
              <a:spLocks/>
            </p:cNvSpPr>
            <p:nvPr/>
          </p:nvSpPr>
          <p:spPr>
            <a:xfrm rot="0">
              <a:off x="4385405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4" name="矩形"/>
          <p:cNvSpPr>
            <a:spLocks/>
          </p:cNvSpPr>
          <p:nvPr/>
        </p:nvSpPr>
        <p:spPr>
          <a:xfrm rot="0">
            <a:off x="4593803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MULTI-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LANGUAGE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6" name="组合"/>
          <p:cNvGrpSpPr>
            <a:grpSpLocks/>
          </p:cNvGrpSpPr>
          <p:nvPr/>
        </p:nvGrpSpPr>
        <p:grpSpPr>
          <a:xfrm>
            <a:off x="7954346" y="3287267"/>
            <a:ext cx="2965514" cy="1386935"/>
            <a:chOff x="7954346" y="3287267"/>
            <a:chExt cx="2965514" cy="1386935"/>
          </a:xfrm>
        </p:grpSpPr>
        <p:sp>
          <p:nvSpPr>
            <p:cNvPr id="275" name="曲线"/>
            <p:cNvSpPr>
              <a:spLocks/>
            </p:cNvSpPr>
            <p:nvPr/>
          </p:nvSpPr>
          <p:spPr>
            <a:xfrm rot="0">
              <a:off x="7954346" y="3287267"/>
              <a:ext cx="2965514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77" name="矩形"/>
          <p:cNvSpPr>
            <a:spLocks/>
          </p:cNvSpPr>
          <p:nvPr/>
        </p:nvSpPr>
        <p:spPr>
          <a:xfrm rot="0">
            <a:off x="8162754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E-SIGNATURE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79" name="组合"/>
          <p:cNvGrpSpPr>
            <a:grpSpLocks/>
          </p:cNvGrpSpPr>
          <p:nvPr/>
        </p:nvGrpSpPr>
        <p:grpSpPr>
          <a:xfrm>
            <a:off x="11523297" y="3287267"/>
            <a:ext cx="2965513" cy="1386935"/>
            <a:chOff x="11523297" y="3287267"/>
            <a:chExt cx="2965513" cy="1386935"/>
          </a:xfrm>
        </p:grpSpPr>
        <p:sp>
          <p:nvSpPr>
            <p:cNvPr id="278" name="曲线"/>
            <p:cNvSpPr>
              <a:spLocks/>
            </p:cNvSpPr>
            <p:nvPr/>
          </p:nvSpPr>
          <p:spPr>
            <a:xfrm rot="0">
              <a:off x="11523297" y="3287267"/>
              <a:ext cx="2965513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754" y="0"/>
                    <a:pt x="1683" y="0"/>
                  </a:cubicBezTo>
                  <a:lnTo>
                    <a:pt x="19916" y="0"/>
                  </a:lnTo>
                  <a:cubicBezTo>
                    <a:pt x="2084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845" y="21600"/>
                    <a:pt x="19916" y="21600"/>
                  </a:cubicBezTo>
                  <a:lnTo>
                    <a:pt x="1683" y="21600"/>
                  </a:lnTo>
                  <a:cubicBezTo>
                    <a:pt x="754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0" name="矩形"/>
          <p:cNvSpPr>
            <a:spLocks/>
          </p:cNvSpPr>
          <p:nvPr/>
        </p:nvSpPr>
        <p:spPr>
          <a:xfrm rot="0">
            <a:off x="11731704" y="3402320"/>
            <a:ext cx="2548738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MOBILE</a:t>
            </a:r>
            <a:endParaRPr lang="en-US" altLang="zh-CN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APP</a:t>
            </a:r>
            <a:endParaRPr lang="zh-CN" altLang="en-US" sz="210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grpSp>
        <p:nvGrpSpPr>
          <p:cNvPr id="282" name="组合"/>
          <p:cNvGrpSpPr>
            <a:grpSpLocks/>
          </p:cNvGrpSpPr>
          <p:nvPr/>
        </p:nvGrpSpPr>
        <p:grpSpPr>
          <a:xfrm>
            <a:off x="15092248" y="3287267"/>
            <a:ext cx="2347817" cy="1386935"/>
            <a:chOff x="15092248" y="3287267"/>
            <a:chExt cx="2347817" cy="1386935"/>
          </a:xfrm>
        </p:grpSpPr>
        <p:sp>
          <p:nvSpPr>
            <p:cNvPr id="281" name="曲线"/>
            <p:cNvSpPr>
              <a:spLocks/>
            </p:cNvSpPr>
            <p:nvPr/>
          </p:nvSpPr>
          <p:spPr>
            <a:xfrm rot="0">
              <a:off x="15092248" y="3287267"/>
              <a:ext cx="2347817" cy="1386935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952" y="0"/>
                    <a:pt x="2126" y="0"/>
                  </a:cubicBezTo>
                  <a:lnTo>
                    <a:pt x="19473" y="0"/>
                  </a:lnTo>
                  <a:cubicBezTo>
                    <a:pt x="20647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0647" y="21600"/>
                    <a:pt x="19473" y="21600"/>
                  </a:cubicBezTo>
                  <a:lnTo>
                    <a:pt x="2126" y="21600"/>
                  </a:lnTo>
                  <a:cubicBezTo>
                    <a:pt x="952" y="21600"/>
                    <a:pt x="0" y="19989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283" name="矩形"/>
          <p:cNvSpPr>
            <a:spLocks/>
          </p:cNvSpPr>
          <p:nvPr/>
        </p:nvSpPr>
        <p:spPr>
          <a:xfrm rot="0">
            <a:off x="15300646" y="3402320"/>
            <a:ext cx="1931031" cy="110923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SMART</a:t>
            </a:r>
            <a:endParaRPr lang="en-US" altLang="zh-CN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  <a:p>
            <a:pPr marL="0" indent="0" algn="ctr">
              <a:lnSpc>
                <a:spcPts val="23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9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CHECK</a:t>
            </a:r>
            <a:endParaRPr lang="zh-CN" altLang="en-US" sz="19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84" name="直线"/>
          <p:cNvSpPr>
            <a:spLocks/>
          </p:cNvSpPr>
          <p:nvPr/>
        </p:nvSpPr>
        <p:spPr>
          <a:xfrm rot="199620">
            <a:off x="3755231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5" name="直线"/>
          <p:cNvSpPr>
            <a:spLocks/>
          </p:cNvSpPr>
          <p:nvPr/>
        </p:nvSpPr>
        <p:spPr>
          <a:xfrm rot="199620">
            <a:off x="7324182" y="3971230"/>
            <a:ext cx="656938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6" name="直线"/>
          <p:cNvSpPr>
            <a:spLocks/>
          </p:cNvSpPr>
          <p:nvPr/>
        </p:nvSpPr>
        <p:spPr>
          <a:xfrm rot="199620">
            <a:off x="1089312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sp>
        <p:nvSpPr>
          <p:cNvPr id="287" name="直线"/>
          <p:cNvSpPr>
            <a:spLocks/>
          </p:cNvSpPr>
          <p:nvPr/>
        </p:nvSpPr>
        <p:spPr>
          <a:xfrm rot="199620">
            <a:off x="14462073" y="3971230"/>
            <a:ext cx="656939" cy="0"/>
          </a:xfrm>
          <a:prstGeom prst="line"/>
          <a:noFill/>
          <a:ln w="19050" cmpd="sng" cap="rnd">
            <a:solidFill>
              <a:srgbClr val="366FC4"/>
            </a:solidFill>
            <a:prstDash val="solid"/>
            <a:round/>
          </a:ln>
        </p:spPr>
      </p:sp>
      <p:grpSp>
        <p:nvGrpSpPr>
          <p:cNvPr id="289" name="组合"/>
          <p:cNvGrpSpPr>
            <a:grpSpLocks/>
          </p:cNvGrpSpPr>
          <p:nvPr/>
        </p:nvGrpSpPr>
        <p:grpSpPr>
          <a:xfrm>
            <a:off x="2738199" y="6238513"/>
            <a:ext cx="13054679" cy="1730120"/>
            <a:chOff x="2738199" y="6238513"/>
            <a:chExt cx="13054679" cy="1730120"/>
          </a:xfrm>
        </p:grpSpPr>
        <p:sp>
          <p:nvSpPr>
            <p:cNvPr id="288" name="曲线"/>
            <p:cNvSpPr>
              <a:spLocks/>
            </p:cNvSpPr>
            <p:nvPr/>
          </p:nvSpPr>
          <p:spPr>
            <a:xfrm rot="0">
              <a:off x="2738199" y="6238513"/>
              <a:ext cx="13054679" cy="1730120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599"/>
                  </a:moveTo>
                  <a:cubicBezTo>
                    <a:pt x="0" y="1611"/>
                    <a:pt x="213" y="0"/>
                    <a:pt x="477" y="0"/>
                  </a:cubicBezTo>
                  <a:lnTo>
                    <a:pt x="21122" y="0"/>
                  </a:lnTo>
                  <a:cubicBezTo>
                    <a:pt x="21386" y="0"/>
                    <a:pt x="21600" y="1611"/>
                    <a:pt x="21600" y="3599"/>
                  </a:cubicBezTo>
                  <a:lnTo>
                    <a:pt x="21600" y="18000"/>
                  </a:lnTo>
                  <a:cubicBezTo>
                    <a:pt x="21600" y="19988"/>
                    <a:pt x="21386" y="21600"/>
                    <a:pt x="21122" y="21600"/>
                  </a:cubicBezTo>
                  <a:lnTo>
                    <a:pt x="477" y="21600"/>
                  </a:lnTo>
                  <a:cubicBezTo>
                    <a:pt x="213" y="21600"/>
                    <a:pt x="0" y="19988"/>
                    <a:pt x="0" y="18000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291" name="组合"/>
          <p:cNvGrpSpPr>
            <a:grpSpLocks/>
          </p:cNvGrpSpPr>
          <p:nvPr/>
        </p:nvGrpSpPr>
        <p:grpSpPr>
          <a:xfrm>
            <a:off x="2745343" y="6245657"/>
            <a:ext cx="109823" cy="1715833"/>
            <a:chOff x="2745343" y="6245657"/>
            <a:chExt cx="109823" cy="1715833"/>
          </a:xfrm>
        </p:grpSpPr>
        <p:sp>
          <p:nvSpPr>
            <p:cNvPr id="290" name="曲线"/>
            <p:cNvSpPr>
              <a:spLocks/>
            </p:cNvSpPr>
            <p:nvPr/>
          </p:nvSpPr>
          <p:spPr>
            <a:xfrm rot="0">
              <a:off x="2745343" y="6245657"/>
              <a:ext cx="109823" cy="1715833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292" name="矩形"/>
          <p:cNvSpPr>
            <a:spLocks/>
          </p:cNvSpPr>
          <p:nvPr/>
        </p:nvSpPr>
        <p:spPr>
          <a:xfrm rot="0">
            <a:off x="3179950" y="6453854"/>
            <a:ext cx="12239806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Future vision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3" name="矩形"/>
          <p:cNvSpPr>
            <a:spLocks/>
          </p:cNvSpPr>
          <p:nvPr/>
        </p:nvSpPr>
        <p:spPr>
          <a:xfrm rot="0">
            <a:off x="3179950" y="7104336"/>
            <a:ext cx="12239806" cy="63299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Expand supported languages, document types, integrations and validation tools while maintaining privacy and human oversight.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sp>
        <p:nvSpPr>
          <p:cNvPr id="29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9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567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矩形"/>
          <p:cNvSpPr>
            <a:spLocks/>
          </p:cNvSpPr>
          <p:nvPr/>
        </p:nvSpPr>
        <p:spPr>
          <a:xfrm rot="0">
            <a:off x="846410" y="344348"/>
            <a:ext cx="12033904" cy="749256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50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203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9. Conclusion</a:t>
            </a:r>
            <a:endParaRPr lang="zh-CN" altLang="en-US" sz="4203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296" name="矩形"/>
          <p:cNvSpPr>
            <a:spLocks/>
          </p:cNvSpPr>
          <p:nvPr/>
        </p:nvSpPr>
        <p:spPr>
          <a:xfrm rot="0">
            <a:off x="887587" y="1188120"/>
            <a:ext cx="13269306" cy="49572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1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Summary</a:t>
            </a:r>
            <a:endParaRPr lang="zh-CN" altLang="en-US" sz="180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298" name="组合"/>
          <p:cNvGrpSpPr>
            <a:grpSpLocks/>
          </p:cNvGrpSpPr>
          <p:nvPr/>
        </p:nvGrpSpPr>
        <p:grpSpPr>
          <a:xfrm>
            <a:off x="1090984" y="2120494"/>
            <a:ext cx="7701344" cy="1867471"/>
            <a:chOff x="1090984" y="2120494"/>
            <a:chExt cx="7701344" cy="1867471"/>
          </a:xfrm>
        </p:grpSpPr>
        <p:sp>
          <p:nvSpPr>
            <p:cNvPr id="297" name="曲线"/>
            <p:cNvSpPr>
              <a:spLocks/>
            </p:cNvSpPr>
            <p:nvPr/>
          </p:nvSpPr>
          <p:spPr>
            <a:xfrm rot="0">
              <a:off x="1090984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0" name="组合"/>
          <p:cNvGrpSpPr>
            <a:grpSpLocks/>
          </p:cNvGrpSpPr>
          <p:nvPr/>
        </p:nvGrpSpPr>
        <p:grpSpPr>
          <a:xfrm>
            <a:off x="1098137" y="2127647"/>
            <a:ext cx="109823" cy="1853089"/>
            <a:chOff x="1098137" y="2127647"/>
            <a:chExt cx="109823" cy="1853089"/>
          </a:xfrm>
        </p:grpSpPr>
        <p:sp>
          <p:nvSpPr>
            <p:cNvPr id="299" name="曲线"/>
            <p:cNvSpPr>
              <a:spLocks/>
            </p:cNvSpPr>
            <p:nvPr/>
          </p:nvSpPr>
          <p:spPr>
            <a:xfrm rot="0">
              <a:off x="1098137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1" name="矩形"/>
          <p:cNvSpPr>
            <a:spLocks/>
          </p:cNvSpPr>
          <p:nvPr/>
        </p:nvSpPr>
        <p:spPr>
          <a:xfrm rot="0">
            <a:off x="1532744" y="2335844"/>
            <a:ext cx="6886384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What LegalEase does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2" name="矩形"/>
          <p:cNvSpPr>
            <a:spLocks/>
          </p:cNvSpPr>
          <p:nvPr/>
        </p:nvSpPr>
        <p:spPr>
          <a:xfrm rot="0">
            <a:off x="1532744" y="298631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Uses AI to help transform user-provided information into structured legal document drafts.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04" name="组合"/>
          <p:cNvGrpSpPr>
            <a:grpSpLocks/>
          </p:cNvGrpSpPr>
          <p:nvPr/>
        </p:nvGrpSpPr>
        <p:grpSpPr>
          <a:xfrm>
            <a:off x="1090984" y="4454033"/>
            <a:ext cx="7701344" cy="1867471"/>
            <a:chOff x="1090984" y="4454033"/>
            <a:chExt cx="7701344" cy="1867471"/>
          </a:xfrm>
        </p:grpSpPr>
        <p:sp>
          <p:nvSpPr>
            <p:cNvPr id="303" name="曲线"/>
            <p:cNvSpPr>
              <a:spLocks/>
            </p:cNvSpPr>
            <p:nvPr/>
          </p:nvSpPr>
          <p:spPr>
            <a:xfrm rot="0">
              <a:off x="1090984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06" name="组合"/>
          <p:cNvGrpSpPr>
            <a:grpSpLocks/>
          </p:cNvGrpSpPr>
          <p:nvPr/>
        </p:nvGrpSpPr>
        <p:grpSpPr>
          <a:xfrm>
            <a:off x="1098137" y="4461186"/>
            <a:ext cx="109823" cy="1853089"/>
            <a:chOff x="1098137" y="4461186"/>
            <a:chExt cx="109823" cy="1853089"/>
          </a:xfrm>
        </p:grpSpPr>
        <p:sp>
          <p:nvSpPr>
            <p:cNvPr id="305" name="曲线"/>
            <p:cNvSpPr>
              <a:spLocks/>
            </p:cNvSpPr>
            <p:nvPr/>
          </p:nvSpPr>
          <p:spPr>
            <a:xfrm rot="0">
              <a:off x="1098137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07" name="矩形"/>
          <p:cNvSpPr>
            <a:spLocks/>
          </p:cNvSpPr>
          <p:nvPr/>
        </p:nvSpPr>
        <p:spPr>
          <a:xfrm rot="0">
            <a:off x="1532744" y="4669384"/>
            <a:ext cx="6886384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Why it matters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08" name="矩形"/>
          <p:cNvSpPr>
            <a:spLocks/>
          </p:cNvSpPr>
          <p:nvPr/>
        </p:nvSpPr>
        <p:spPr>
          <a:xfrm rot="0">
            <a:off x="1532744" y="531986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Can reduce repetitive work and make basic drafting more convenient.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0" name="组合"/>
          <p:cNvGrpSpPr>
            <a:grpSpLocks/>
          </p:cNvGrpSpPr>
          <p:nvPr/>
        </p:nvGrpSpPr>
        <p:grpSpPr>
          <a:xfrm>
            <a:off x="9601562" y="2120494"/>
            <a:ext cx="7701344" cy="1867471"/>
            <a:chOff x="9601562" y="2120494"/>
            <a:chExt cx="7701344" cy="1867471"/>
          </a:xfrm>
        </p:grpSpPr>
        <p:sp>
          <p:nvSpPr>
            <p:cNvPr id="309" name="曲线"/>
            <p:cNvSpPr>
              <a:spLocks/>
            </p:cNvSpPr>
            <p:nvPr/>
          </p:nvSpPr>
          <p:spPr>
            <a:xfrm rot="0">
              <a:off x="9601562" y="2120494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2" name="组合"/>
          <p:cNvGrpSpPr>
            <a:grpSpLocks/>
          </p:cNvGrpSpPr>
          <p:nvPr/>
        </p:nvGrpSpPr>
        <p:grpSpPr>
          <a:xfrm>
            <a:off x="9608705" y="2127647"/>
            <a:ext cx="109823" cy="1853089"/>
            <a:chOff x="9608705" y="2127647"/>
            <a:chExt cx="109823" cy="1853089"/>
          </a:xfrm>
        </p:grpSpPr>
        <p:sp>
          <p:nvSpPr>
            <p:cNvPr id="311" name="曲线"/>
            <p:cNvSpPr>
              <a:spLocks/>
            </p:cNvSpPr>
            <p:nvPr/>
          </p:nvSpPr>
          <p:spPr>
            <a:xfrm rot="0">
              <a:off x="9608705" y="2127647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3" name="矩形"/>
          <p:cNvSpPr>
            <a:spLocks/>
          </p:cNvSpPr>
          <p:nvPr/>
        </p:nvSpPr>
        <p:spPr>
          <a:xfrm rot="0">
            <a:off x="10043312" y="2335844"/>
            <a:ext cx="6886384" cy="51477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Human role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14" name="矩形"/>
          <p:cNvSpPr>
            <a:spLocks/>
          </p:cNvSpPr>
          <p:nvPr/>
        </p:nvSpPr>
        <p:spPr>
          <a:xfrm rot="0">
            <a:off x="10043312" y="298631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Users should review the output for accuracy and context.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16" name="组合"/>
          <p:cNvGrpSpPr>
            <a:grpSpLocks/>
          </p:cNvGrpSpPr>
          <p:nvPr/>
        </p:nvGrpSpPr>
        <p:grpSpPr>
          <a:xfrm>
            <a:off x="9601562" y="4454033"/>
            <a:ext cx="7701344" cy="1867471"/>
            <a:chOff x="9601562" y="4454033"/>
            <a:chExt cx="7701344" cy="1867471"/>
          </a:xfrm>
        </p:grpSpPr>
        <p:sp>
          <p:nvSpPr>
            <p:cNvPr id="315" name="曲线"/>
            <p:cNvSpPr>
              <a:spLocks/>
            </p:cNvSpPr>
            <p:nvPr/>
          </p:nvSpPr>
          <p:spPr>
            <a:xfrm rot="0">
              <a:off x="9601562" y="4454033"/>
              <a:ext cx="7701344" cy="1867471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1"/>
                    <a:pt x="390" y="0"/>
                    <a:pt x="873" y="0"/>
                  </a:cubicBezTo>
                  <a:lnTo>
                    <a:pt x="20726" y="0"/>
                  </a:lnTo>
                  <a:cubicBezTo>
                    <a:pt x="21209" y="0"/>
                    <a:pt x="21600" y="1611"/>
                    <a:pt x="21600" y="3600"/>
                  </a:cubicBezTo>
                  <a:lnTo>
                    <a:pt x="21600" y="17999"/>
                  </a:lnTo>
                  <a:cubicBezTo>
                    <a:pt x="21600" y="19988"/>
                    <a:pt x="21209" y="21599"/>
                    <a:pt x="20726" y="21599"/>
                  </a:cubicBezTo>
                  <a:lnTo>
                    <a:pt x="873" y="21599"/>
                  </a:lnTo>
                  <a:cubicBezTo>
                    <a:pt x="390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FFFFFF"/>
            </a:solidFill>
            <a:ln w="14299" cmpd="sng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id="318" name="组合"/>
          <p:cNvGrpSpPr>
            <a:grpSpLocks/>
          </p:cNvGrpSpPr>
          <p:nvPr/>
        </p:nvGrpSpPr>
        <p:grpSpPr>
          <a:xfrm>
            <a:off x="9608705" y="4461186"/>
            <a:ext cx="109823" cy="1853089"/>
            <a:chOff x="9608705" y="4461186"/>
            <a:chExt cx="109823" cy="1853089"/>
          </a:xfrm>
        </p:grpSpPr>
        <p:sp>
          <p:nvSpPr>
            <p:cNvPr id="317" name="曲线"/>
            <p:cNvSpPr>
              <a:spLocks/>
            </p:cNvSpPr>
            <p:nvPr/>
          </p:nvSpPr>
          <p:spPr>
            <a:xfrm rot="0">
              <a:off x="9608705" y="4461186"/>
              <a:ext cx="109823" cy="185308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366FC4"/>
            </a:solidFill>
            <a:ln cmpd="sng" cap="flat">
              <a:noFill/>
              <a:prstDash val="solid"/>
              <a:miter/>
            </a:ln>
          </p:spPr>
        </p:sp>
      </p:grpSp>
      <p:sp>
        <p:nvSpPr>
          <p:cNvPr id="319" name="矩形"/>
          <p:cNvSpPr>
            <a:spLocks/>
          </p:cNvSpPr>
          <p:nvPr/>
        </p:nvSpPr>
        <p:spPr>
          <a:xfrm rot="0">
            <a:off x="10043312" y="4669384"/>
            <a:ext cx="6886384" cy="51477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 responsibility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0" name="矩形"/>
          <p:cNvSpPr>
            <a:spLocks/>
          </p:cNvSpPr>
          <p:nvPr/>
        </p:nvSpPr>
        <p:spPr>
          <a:xfrm rot="0">
            <a:off x="10043312" y="5319865"/>
            <a:ext cx="6886384" cy="770268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26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For important legal matters, qualified legal advice should be obtained.</a:t>
            </a:r>
            <a:endParaRPr lang="zh-CN" altLang="en-US" sz="1726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  <p:grpSp>
        <p:nvGrpSpPr>
          <p:cNvPr id="322" name="组合"/>
          <p:cNvGrpSpPr>
            <a:grpSpLocks/>
          </p:cNvGrpSpPr>
          <p:nvPr/>
        </p:nvGrpSpPr>
        <p:grpSpPr>
          <a:xfrm>
            <a:off x="4522670" y="7473915"/>
            <a:ext cx="9211246" cy="1112519"/>
            <a:chOff x="4522670" y="7473915"/>
            <a:chExt cx="9211246" cy="1112519"/>
          </a:xfrm>
        </p:grpSpPr>
        <p:sp>
          <p:nvSpPr>
            <p:cNvPr id="321" name="曲线"/>
            <p:cNvSpPr>
              <a:spLocks/>
            </p:cNvSpPr>
            <p:nvPr/>
          </p:nvSpPr>
          <p:spPr>
            <a:xfrm rot="0">
              <a:off x="4522670" y="7473915"/>
              <a:ext cx="9211246" cy="1112519"/>
            </a:xfrm>
            <a:custGeom>
              <a:gdLst>
                <a:gd name="T1" fmla="*/ 0 w 21600"/>
                <a:gd name="T2" fmla="*/ 0 h 21600"/>
                <a:gd name="T3" fmla="*/ 21600 w 21600"/>
                <a:gd name="T4" fmla="*/ 21600 h 21600"/>
              </a:gdLst>
              <a:rect l="T1" t="T2" r="T3" b="T4"/>
              <a:pathLst>
                <a:path w="21600" h="21600">
                  <a:moveTo>
                    <a:pt x="0" y="3600"/>
                  </a:moveTo>
                  <a:cubicBezTo>
                    <a:pt x="0" y="1612"/>
                    <a:pt x="194" y="0"/>
                    <a:pt x="434" y="0"/>
                  </a:cubicBezTo>
                  <a:lnTo>
                    <a:pt x="21165" y="0"/>
                  </a:lnTo>
                  <a:cubicBezTo>
                    <a:pt x="21405" y="0"/>
                    <a:pt x="21600" y="1612"/>
                    <a:pt x="21600" y="3600"/>
                  </a:cubicBezTo>
                  <a:lnTo>
                    <a:pt x="21600" y="17999"/>
                  </a:lnTo>
                  <a:cubicBezTo>
                    <a:pt x="21600" y="19987"/>
                    <a:pt x="21405" y="21600"/>
                    <a:pt x="21165" y="21600"/>
                  </a:cubicBezTo>
                  <a:lnTo>
                    <a:pt x="434" y="21600"/>
                  </a:lnTo>
                  <a:cubicBezTo>
                    <a:pt x="194" y="21598"/>
                    <a:pt x="0" y="19987"/>
                    <a:pt x="0" y="17999"/>
                  </a:cubicBezTo>
                  <a:close/>
                </a:path>
              </a:pathLst>
            </a:custGeom>
            <a:solidFill>
              <a:srgbClr val="E8F6F4"/>
            </a:solidFill>
            <a:ln w="14299" cmpd="sng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id="323" name="矩形"/>
          <p:cNvSpPr>
            <a:spLocks/>
          </p:cNvSpPr>
          <p:nvPr/>
        </p:nvSpPr>
        <p:spPr>
          <a:xfrm rot="0">
            <a:off x="4731077" y="7579452"/>
            <a:ext cx="8794394" cy="84421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ctr">
              <a:lnSpc>
                <a:spcPts val="27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251" b="0" i="0" u="none" strike="noStrike" kern="1200" cap="none" spc="0" baseline="0">
                <a:solidFill>
                  <a:srgbClr val="162D4E"/>
                </a:solidFill>
                <a:latin typeface="Calibri (MS) Bold" pitchFamily="0" charset="0"/>
                <a:ea typeface="Calibri (MS) Bold" pitchFamily="0" charset="0"/>
                <a:cs typeface="Calibri (MS) Bold" pitchFamily="0" charset="0"/>
                <a:sym typeface="Calibri (MS) Bold" pitchFamily="0" charset="0"/>
              </a:rPr>
              <a:t>LEGALease = AI ASSISTANCE + HUMAN REVIEW</a:t>
            </a:r>
            <a:endParaRPr lang="zh-CN" altLang="en-US" sz="2251" b="0" i="0" u="none" strike="noStrike" kern="1200" cap="none" spc="0" baseline="0">
              <a:solidFill>
                <a:srgbClr val="162D4E"/>
              </a:solidFill>
              <a:latin typeface="Calibri (MS) Bold" pitchFamily="0" charset="0"/>
              <a:ea typeface="Calibri (MS) Bold" pitchFamily="0" charset="0"/>
              <a:cs typeface="Calibri (MS) Bold" pitchFamily="0" charset="0"/>
              <a:sym typeface="Calibri (MS) Bold" pitchFamily="0" charset="0"/>
            </a:endParaRPr>
          </a:p>
        </p:txBody>
      </p:sp>
      <p:sp>
        <p:nvSpPr>
          <p:cNvPr id="324" name="矩形"/>
          <p:cNvSpPr>
            <a:spLocks/>
          </p:cNvSpPr>
          <p:nvPr/>
        </p:nvSpPr>
        <p:spPr>
          <a:xfrm rot="0">
            <a:off x="16426244" y="9694488"/>
            <a:ext cx="640727" cy="21167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0" tIns="0" rIns="0" bIns="0" anchor="t" anchorCtr="0">
            <a:prstTxWarp prst="textNoShape"/>
            <a:spAutoFit/>
          </a:bodyPr>
          <a:lstStyle/>
          <a:p>
            <a:pPr marL="0" indent="0" algn="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351" b="0" i="0" u="none" strike="noStrike" kern="1200" cap="none" spc="0" baseline="0">
                <a:solidFill>
                  <a:srgbClr val="525C6C"/>
                </a:solidFill>
                <a:latin typeface="Calibri (MS)" pitchFamily="0" charset="0"/>
                <a:ea typeface="Calibri (MS)" pitchFamily="0" charset="0"/>
                <a:cs typeface="Calibri (MS)" pitchFamily="0" charset="0"/>
                <a:sym typeface="Calibri (MS)" pitchFamily="0" charset="0"/>
              </a:rPr>
              <a:t>10</a:t>
            </a:r>
            <a:endParaRPr lang="zh-CN" altLang="en-US" sz="1351" b="0" i="0" u="none" strike="noStrike" kern="1200" cap="none" spc="0" baseline="0">
              <a:solidFill>
                <a:srgbClr val="525C6C"/>
              </a:solidFill>
              <a:latin typeface="Calibri (MS)" pitchFamily="0" charset="0"/>
              <a:ea typeface="Calibri (MS)" pitchFamily="0" charset="0"/>
              <a:cs typeface="Calibri (MS)" pitchFamily="0" charset="0"/>
              <a:sym typeface="Calibri (MS)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342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5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LegalEase_AI_Legal_Document_Generator_Diagram_PPT.pptx</dc:title>
  <cp:lastModifiedBy>root</cp:lastModifiedBy>
  <cp:revision>1</cp:revision>
  <dcterms:created xsi:type="dcterms:W3CDTF">2006-08-16T00:00:00Z</dcterms:created>
  <dcterms:modified xsi:type="dcterms:W3CDTF">2026-09-30T06:08:27Z</dcterms:modified>
</cp:coreProperties>
</file>